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验证行为的天壤之别：二元与连续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92222"/>
            <a:ext cx="3786188" cy="32432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2222"/>
            <a:ext cx="3786188" cy="2857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777984"/>
            <a:ext cx="335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场景一：Conflict-20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2271796"/>
            <a:ext cx="5651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YES (正确)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738246" y="2267331"/>
            <a:ext cx="4051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85.7%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5813" y="2614696"/>
            <a:ext cx="8211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PARTIAL (部分)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936876" y="2610231"/>
            <a:ext cx="2064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0%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5813" y="2957596"/>
            <a:ext cx="5079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(错误)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738246" y="2953131"/>
            <a:ext cx="4051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14.3%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5813" y="3424619"/>
            <a:ext cx="3357563" cy="98226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4" name="Text 11"/>
          <p:cNvSpPr/>
          <p:nvPr/>
        </p:nvSpPr>
        <p:spPr>
          <a:xfrm>
            <a:off x="928688" y="3674650"/>
            <a:ext cx="30718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特征：二元判断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英文简单事实（如币价、日期），原文要么有要么没有，模型表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现出极强的非黑即白倾向。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786313" y="1392222"/>
            <a:ext cx="3786188" cy="32432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4786313" y="1392222"/>
            <a:ext cx="3786188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4"/>
          <p:cNvSpPr/>
          <p:nvPr/>
        </p:nvSpPr>
        <p:spPr>
          <a:xfrm>
            <a:off x="5000625" y="1777984"/>
            <a:ext cx="335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场景二：BrowseComp-ZH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00625" y="2271796"/>
            <a:ext cx="5651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YES (正确)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953059" y="2267331"/>
            <a:ext cx="4051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36.6%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00625" y="2614696"/>
            <a:ext cx="8211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PARTIAL (部分)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953059" y="2610231"/>
            <a:ext cx="4051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60.9%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00625" y="2957596"/>
            <a:ext cx="5079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(错误)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032533" y="2953131"/>
            <a:ext cx="3256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2.4%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00625" y="3424619"/>
            <a:ext cx="3357563" cy="98226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5" name="Text 22"/>
          <p:cNvSpPr/>
          <p:nvPr/>
        </p:nvSpPr>
        <p:spPr>
          <a:xfrm>
            <a:off x="5143500" y="3674650"/>
            <a:ext cx="307181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特征：细粒度推理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中文复杂推理中，声明与原文往往是“意思对但表述不一”，</a:t>
            </a:r>
            <a:r>
              <a:rPr lang="en-US" sz="75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PARTIAL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成为适配复杂场景的关键。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跨场景的四个核心共性发现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3893344" cy="1771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20784"/>
            <a:ext cx="3893344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677079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5838" y="1649397"/>
            <a:ext cx="12573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上游瓶颈决定一切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42950" y="1976224"/>
            <a:ext cx="3550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流水线后期无法补救上游损失。场景一的瓶颈是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搜索质量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，场景二则是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V0 假设命中率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（80% 决定了 Accuracy 上限）。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679156" y="1320784"/>
            <a:ext cx="3893344" cy="1771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4679156" y="1320784"/>
            <a:ext cx="3893344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606" y="1677079"/>
            <a:ext cx="19645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2784" y="1649397"/>
            <a:ext cx="141446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验证收益因场景而异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50606" y="1976224"/>
            <a:ext cx="3550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场景一实现净纠错 +40 条但存在 9% 误删；场景二有效刹停幻觉，且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PARTIAL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判定适配了中文推理的复杂性。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71500" y="3306747"/>
            <a:ext cx="3893344" cy="1771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3306747"/>
            <a:ext cx="3893344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663042"/>
            <a:ext cx="176808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483" y="3635359"/>
            <a:ext cx="125730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中间表示的双刃剑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742950" y="3962186"/>
            <a:ext cx="3550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结构化知识表提升了回答的精细度（如区分排名类型），但 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提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取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环节的遗漏可能导致整个流水线白跑。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679156" y="3306747"/>
            <a:ext cx="3893344" cy="17716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4"/>
          <p:cNvSpPr/>
          <p:nvPr/>
        </p:nvSpPr>
        <p:spPr>
          <a:xfrm>
            <a:off x="4679156" y="3306747"/>
            <a:ext cx="3893344" cy="28575"/>
          </a:xfrm>
          <a:prstGeom prst="rect">
            <a:avLst/>
          </a:prstGeom>
          <a:solidFill>
            <a:srgbClr val="4F46E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606" y="3634467"/>
            <a:ext cx="176808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13139" y="3606784"/>
            <a:ext cx="162397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成本-收益的分场景决策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850606" y="3933611"/>
            <a:ext cx="3550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Vanilla RAG 在简单场景下性价比最高。SEVE 是针对</a:t>
            </a: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高价值、高风险</a:t>
            </a: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场景的“可信度溢价”方案，需权衡 20 倍的成本支出。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使用决策树：何时何地使用？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2314575" cy="469702"/>
          </a:xfrm>
          <a:prstGeom prst="rect">
            <a:avLst/>
          </a:prstGeom>
          <a:solidFill>
            <a:srgbClr val="4F46E5"/>
          </a:solidFill>
          <a:ln w="18288">
            <a:solidFill>
              <a:srgbClr val="4F46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320784"/>
            <a:ext cx="2314575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核心问题：需要用到 SEVE 吗？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1500" y="2082487"/>
            <a:ext cx="128588" cy="1714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42963" y="1933361"/>
            <a:ext cx="2314575" cy="469702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42963" y="1933361"/>
            <a:ext cx="2314575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搜索结果可靠且一致？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838" y="2068199"/>
            <a:ext cx="171450" cy="1714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586163" y="1993190"/>
            <a:ext cx="1581057" cy="321469"/>
          </a:xfrm>
          <a:prstGeom prst="round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613" y="2103918"/>
            <a:ext cx="100013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14775" y="2086059"/>
            <a:ext cx="1066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VANILLA RAG (足够好)</a:t>
            </a:r>
            <a:endParaRPr lang="en-US" sz="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71500" y="2695063"/>
            <a:ext cx="128588" cy="1714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42963" y="2545938"/>
            <a:ext cx="2314575" cy="469702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842963" y="2545938"/>
            <a:ext cx="2314575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搜索结果可靠但不一致？</a:t>
            </a:r>
            <a:endParaRPr lang="en-US" sz="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1838" y="2680776"/>
            <a:ext cx="171450" cy="17145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3586163" y="2605767"/>
            <a:ext cx="1903502" cy="321469"/>
          </a:xfrm>
          <a:prstGeom prst="roundRect">
            <a:avLst/>
          </a:prstGeom>
          <a:solidFill>
            <a:srgbClr val="EEF2FF"/>
          </a:solidFill>
          <a:ln w="9144">
            <a:solidFill>
              <a:srgbClr val="C7D2FE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7613" y="2716495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914775" y="2698635"/>
            <a:ext cx="138915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SEVE 场景一配置 (透明化冲突)</a:t>
            </a:r>
            <a:endParaRPr lang="en-US" sz="7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71500" y="3558564"/>
            <a:ext cx="128588" cy="17145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842963" y="3409438"/>
            <a:ext cx="2314575" cy="469702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22" name="Text 12"/>
          <p:cNvSpPr/>
          <p:nvPr/>
        </p:nvSpPr>
        <p:spPr>
          <a:xfrm>
            <a:off x="842963" y="3409438"/>
            <a:ext cx="2314575" cy="46970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搜索结果不可靠 (零重叠)？</a:t>
            </a:r>
            <a:endParaRPr lang="en-US" sz="8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1838" y="3558564"/>
            <a:ext cx="171450" cy="171450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586163" y="3158514"/>
            <a:ext cx="1743075" cy="450056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25" name="Text 14"/>
          <p:cNvSpPr/>
          <p:nvPr/>
        </p:nvSpPr>
        <p:spPr>
          <a:xfrm>
            <a:off x="3586163" y="3158514"/>
            <a:ext cx="1743075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预算有限？</a:t>
            </a:r>
            <a:endParaRPr lang="en-US" sz="7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3538" y="3283530"/>
            <a:ext cx="171450" cy="17145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5757863" y="3208520"/>
            <a:ext cx="1383850" cy="321469"/>
          </a:xfrm>
          <a:prstGeom prst="roundRect">
            <a:avLst/>
          </a:prstGeom>
          <a:solidFill>
            <a:srgbClr val="ECFDF5"/>
          </a:solidFill>
          <a:ln w="9144">
            <a:solidFill>
              <a:srgbClr val="A7F3D0"/>
            </a:solidFill>
            <a:prstDash val="solid"/>
          </a:ln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9313" y="3319249"/>
            <a:ext cx="75009" cy="100013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061472" y="3301389"/>
            <a:ext cx="8945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C (性价比最优)</a:t>
            </a:r>
            <a:endParaRPr lang="en-US" sz="700" dirty="0"/>
          </a:p>
        </p:txBody>
      </p:sp>
      <p:sp>
        <p:nvSpPr>
          <p:cNvPr id="30" name="Shape 17"/>
          <p:cNvSpPr/>
          <p:nvPr/>
        </p:nvSpPr>
        <p:spPr>
          <a:xfrm>
            <a:off x="3586163" y="3651433"/>
            <a:ext cx="1743075" cy="450056"/>
          </a:xfrm>
          <a:prstGeom prst="rect">
            <a:avLst/>
          </a:prstGeom>
          <a:solidFill>
            <a:srgbClr val="F8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31" name="Text 18"/>
          <p:cNvSpPr/>
          <p:nvPr/>
        </p:nvSpPr>
        <p:spPr>
          <a:xfrm>
            <a:off x="3586163" y="3651433"/>
            <a:ext cx="1743075" cy="4500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需高可信度？</a:t>
            </a:r>
            <a:endParaRPr lang="en-US" sz="7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3538" y="3776449"/>
            <a:ext cx="171450" cy="171450"/>
          </a:xfrm>
          <a:prstGeom prst="rect">
            <a:avLst/>
          </a:prstGeom>
        </p:spPr>
      </p:pic>
      <p:sp>
        <p:nvSpPr>
          <p:cNvPr id="33" name="Shape 19"/>
          <p:cNvSpPr/>
          <p:nvPr/>
        </p:nvSpPr>
        <p:spPr>
          <a:xfrm>
            <a:off x="5757863" y="3701439"/>
            <a:ext cx="1403440" cy="321469"/>
          </a:xfrm>
          <a:prstGeom prst="roundRect">
            <a:avLst/>
          </a:prstGeom>
          <a:solidFill>
            <a:srgbClr val="FEF3C7"/>
          </a:solidFill>
          <a:ln w="9144">
            <a:solidFill>
              <a:srgbClr val="FDE68A"/>
            </a:solidFill>
            <a:prstDash val="solid"/>
          </a:ln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29313" y="3812167"/>
            <a:ext cx="100013" cy="100013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086475" y="3794308"/>
            <a:ext cx="8890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方法 D (完整 SEVE)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改进路线图：向语义与轻量化演进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20784"/>
            <a:ext cx="800100" cy="3804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86902"/>
            <a:ext cx="8001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320784"/>
            <a:ext cx="800100" cy="380405"/>
          </a:xfrm>
          <a:prstGeom prst="rect">
            <a:avLst/>
          </a:prstGeom>
          <a:noFill/>
          <a:ln/>
        </p:spPr>
        <p:txBody>
          <a:bodyPr wrap="non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优先级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371600" y="1320784"/>
            <a:ext cx="2400300" cy="3804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1371600" y="1686902"/>
            <a:ext cx="240030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1320784"/>
            <a:ext cx="2400300" cy="38040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改进项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71900" y="1320784"/>
            <a:ext cx="2000250" cy="3804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3771900" y="1686902"/>
            <a:ext cx="20002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3771900" y="1320784"/>
            <a:ext cx="2000250" cy="38040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适用场景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772150" y="1320784"/>
            <a:ext cx="2800350" cy="38040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5772150" y="1686902"/>
            <a:ext cx="2800350" cy="14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5772150" y="1320784"/>
            <a:ext cx="2800350" cy="38040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预期效果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71513" y="1792272"/>
            <a:ext cx="285052" cy="16073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Text 14"/>
          <p:cNvSpPr/>
          <p:nvPr/>
        </p:nvSpPr>
        <p:spPr>
          <a:xfrm>
            <a:off x="671513" y="1792272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P0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1371600" y="1694045"/>
            <a:ext cx="2400300" cy="34825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验证从字面匹配 → 语义匹配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771900" y="1694045"/>
            <a:ext cx="2000250" cy="34825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双场景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72150" y="1694045"/>
            <a:ext cx="2800350" cy="34825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解决 ~9% 有害删除，提升 PARTIAL 判定精度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71513" y="2144102"/>
            <a:ext cx="285052" cy="16073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2" name="Text 19"/>
          <p:cNvSpPr/>
          <p:nvPr/>
        </p:nvSpPr>
        <p:spPr>
          <a:xfrm>
            <a:off x="671513" y="2144102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P0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371600" y="2042303"/>
            <a:ext cx="240030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合并抽取与生成环节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771900" y="2042303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场景一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772150" y="2042303"/>
            <a:ext cx="28003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减少 1 次 LLM 调用，消除正则解析脆弱性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71513" y="2495931"/>
            <a:ext cx="285052" cy="16073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4"/>
          <p:cNvSpPr/>
          <p:nvPr/>
        </p:nvSpPr>
        <p:spPr>
          <a:xfrm>
            <a:off x="671513" y="2495931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P1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1371600" y="2394133"/>
            <a:ext cx="240030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换用轻量化验证模型 (DeepSeek)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771900" y="2394133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双场景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772150" y="2394133"/>
            <a:ext cx="28003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节省 ~40% 验证成本，显著降低端到端延迟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71513" y="2847761"/>
            <a:ext cx="285052" cy="16073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2" name="Text 29"/>
          <p:cNvSpPr/>
          <p:nvPr/>
        </p:nvSpPr>
        <p:spPr>
          <a:xfrm>
            <a:off x="671513" y="2847761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P1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1371600" y="2745963"/>
            <a:ext cx="240030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Claims 提取失败自动降级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771900" y="2745963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场景二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772150" y="2745963"/>
            <a:ext cx="28003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防止提取遗漏导致管道白跑，增强系统鲁棒性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71513" y="3199591"/>
            <a:ext cx="285052" cy="160734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37" name="Text 34"/>
          <p:cNvSpPr/>
          <p:nvPr/>
        </p:nvSpPr>
        <p:spPr>
          <a:xfrm>
            <a:off x="671513" y="3199591"/>
            <a:ext cx="285052" cy="16073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P2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1371600" y="3097792"/>
            <a:ext cx="240030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知识表增加时效性权重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771900" y="3097792"/>
            <a:ext cx="20002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场景一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772150" y="3097792"/>
            <a:ext cx="2800350" cy="351830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解决多源信息中的过时数据干扰问题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71500" y="4195167"/>
            <a:ext cx="8001000" cy="5197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1500" y="4195167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0"/>
          <p:cNvSpPr/>
          <p:nvPr/>
        </p:nvSpPr>
        <p:spPr>
          <a:xfrm>
            <a:off x="571500" y="4373761"/>
            <a:ext cx="1928254" cy="341114"/>
          </a:xfrm>
          <a:prstGeom prst="rect">
            <a:avLst/>
          </a:prstGeom>
          <a:solidFill>
            <a:srgbClr val="EEF2FF"/>
          </a:solidFill>
          <a:ln w="9144">
            <a:solidFill>
              <a:srgbClr val="C7D2FE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472880"/>
            <a:ext cx="160734" cy="142875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989409" y="4466630"/>
            <a:ext cx="132460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延迟优化：286s → ~150s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6453597" y="4373761"/>
            <a:ext cx="2118903" cy="341114"/>
          </a:xfrm>
          <a:prstGeom prst="rect">
            <a:avLst/>
          </a:prstGeom>
          <a:solidFill>
            <a:srgbClr val="EEF2FF"/>
          </a:solidFill>
          <a:ln w="9144">
            <a:solidFill>
              <a:srgbClr val="C7D2FE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334" y="4480024"/>
            <a:ext cx="160734" cy="142875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885794" y="4473773"/>
            <a:ext cx="151525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成本优化：$0.027 → ~$0.015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总结：解耦理解与表达的价值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07474"/>
            <a:ext cx="8001000" cy="7858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07474"/>
            <a:ext cx="28575" cy="78581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407486"/>
            <a:ext cx="2000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能减少幻觉吗？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843213" y="1407486"/>
            <a:ext cx="558641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能。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场景一实现净纠错 +40 条；场景二通过验证有效刹停幻觉（15Y/1N），显著提升了输出的可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信度。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71500" y="2221874"/>
            <a:ext cx="8001000" cy="7858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2221874"/>
            <a:ext cx="28575" cy="785813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2321886"/>
            <a:ext cx="2000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 值这个成本吗？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843213" y="2321886"/>
            <a:ext cx="5586413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看场景。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简单冲突场景不建议使用；但在零重叠、高风险的推理场景下，SEVE 是确保“有据可查”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的必要选择。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1500" y="3136274"/>
            <a:ext cx="8001000" cy="7858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136274"/>
            <a:ext cx="28575" cy="78581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3236286"/>
            <a:ext cx="2000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目前最大的问题是什么？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843213" y="3236286"/>
            <a:ext cx="5307946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验证精度。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约 9% 的有害删除率以及过度二元化的判断逻辑，是当前拖累准确率的主要瓶颈。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1500" y="4050674"/>
            <a:ext cx="8001000" cy="78581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4050674"/>
            <a:ext cx="28575" cy="785813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5"/>
          <p:cNvSpPr/>
          <p:nvPr/>
        </p:nvSpPr>
        <p:spPr>
          <a:xfrm>
            <a:off x="714375" y="4150686"/>
            <a:ext cx="20002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下一步的工作重点？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43213" y="4150686"/>
            <a:ext cx="5508054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修验证。</a:t>
            </a: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推动验证层从字面匹配转向语义推理，并引入轻量化模型以降低 40% 以上的计算成本。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1500" y="4352330"/>
            <a:ext cx="8001000" cy="3625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4352330"/>
            <a:ext cx="8001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4352330"/>
            <a:ext cx="8001000" cy="36254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SEVE：在搜索与生成之间插入结构化知识表，让联网大模型从“盲目合成”走向“透明核查”。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9627"/>
            <a:ext cx="8572500" cy="40540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附录与参考文献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05629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9391" y="1477947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实验配置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833349"/>
            <a:ext cx="1376790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基座模型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1948290" y="1833349"/>
            <a:ext cx="2065186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V4 Pro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71500" y="2144102"/>
            <a:ext cx="13767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搜索工具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1948290" y="2144102"/>
            <a:ext cx="206518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SerpAPI / Google Search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71500" y="2458427"/>
            <a:ext cx="1376790" cy="29468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1948290" y="2458427"/>
            <a:ext cx="2065186" cy="29468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71500" y="2753106"/>
            <a:ext cx="13767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 上限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1948290" y="2753106"/>
            <a:ext cx="206518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4096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71500" y="3067431"/>
            <a:ext cx="137679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Top-K 结果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1948290" y="3067431"/>
            <a:ext cx="206518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71500" y="3599641"/>
            <a:ext cx="3441976" cy="57864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" y="3599641"/>
            <a:ext cx="28575" cy="57864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" y="3599641"/>
            <a:ext cx="3441976" cy="57864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代码仓库：</a:t>
            </a:r>
            <a:r>
              <a:rPr lang="en-US" sz="600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d:\hook\20d3777207db70384ab5d01c158146cd_2807886279357998\2.0</a:t>
            </a:r>
            <a:r>
              <a:rPr lang="en-US" sz="600" dirty="0">
                <a:solidFill>
                  <a:srgbClr val="1E29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\save\</a:t>
            </a:r>
            <a:endParaRPr lang="en-US" sz="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101" y="1505629"/>
            <a:ext cx="137517" cy="1571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51056" y="1477947"/>
            <a:ext cx="62865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参考文献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27851" y="1833349"/>
            <a:ext cx="3844649" cy="2971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Lewis, P., et al. (2020). Retrieval-Augmented Generation for Knowledge-Intensive NLP Tasks. NeurIPS.</a:t>
            </a:r>
            <a:endParaRPr lang="en-US" sz="650" dirty="0"/>
          </a:p>
        </p:txBody>
      </p:sp>
      <p:sp>
        <p:nvSpPr>
          <p:cNvPr id="22" name="Text 17"/>
          <p:cNvSpPr/>
          <p:nvPr/>
        </p:nvSpPr>
        <p:spPr>
          <a:xfrm>
            <a:off x="4727851" y="2216209"/>
            <a:ext cx="3844649" cy="2971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Asai, A., et al. (2023). Self-RAG: Learning to Retrieve, Generate, and Critique through Self-Reflection. ICLR 2024.</a:t>
            </a:r>
            <a:endParaRPr lang="en-US" sz="650" dirty="0"/>
          </a:p>
        </p:txBody>
      </p:sp>
      <p:sp>
        <p:nvSpPr>
          <p:cNvPr id="23" name="Text 18"/>
          <p:cNvSpPr/>
          <p:nvPr/>
        </p:nvSpPr>
        <p:spPr>
          <a:xfrm>
            <a:off x="4727851" y="2599069"/>
            <a:ext cx="3844649" cy="14856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Dhuliawala, S., et al. (2024). Chain-of-Verification Reduces Hallucination in LLMs. ACL.</a:t>
            </a:r>
            <a:endParaRPr lang="en-US" sz="650" dirty="0"/>
          </a:p>
        </p:txBody>
      </p:sp>
      <p:sp>
        <p:nvSpPr>
          <p:cNvPr id="24" name="Text 19"/>
          <p:cNvSpPr/>
          <p:nvPr/>
        </p:nvSpPr>
        <p:spPr>
          <a:xfrm>
            <a:off x="4727851" y="2833362"/>
            <a:ext cx="3844649" cy="2971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Min, S., et al. (2023). FActScore: Fine-grained Atomic Evaluation of Factual Precision. EMNLP.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4727851" y="3216222"/>
            <a:ext cx="3844649" cy="14856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Gao, T., et al. (2023). ALCE: Enabling LLMs to Generate Text with Citations. EMNLP.</a:t>
            </a:r>
            <a:endParaRPr lang="en-US" sz="650" dirty="0"/>
          </a:p>
        </p:txBody>
      </p:sp>
      <p:sp>
        <p:nvSpPr>
          <p:cNvPr id="26" name="Text 21"/>
          <p:cNvSpPr/>
          <p:nvPr/>
        </p:nvSpPr>
        <p:spPr>
          <a:xfrm>
            <a:off x="4727851" y="3450515"/>
            <a:ext cx="3844649" cy="2971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Vu, T., et al. (2023). FreshLLMs: Refreshing Large Language Models with Search Engine Augmentation. arXiv.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2026-06-09T12:51:43Z</dcterms:created>
  <dcterms:modified xsi:type="dcterms:W3CDTF">2026-06-09T12:51:43Z</dcterms:modified>
</cp:coreProperties>
</file>