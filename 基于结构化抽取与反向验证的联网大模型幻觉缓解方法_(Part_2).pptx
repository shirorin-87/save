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1775" y="1023621"/>
            <a:ext cx="36004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spc="2" kern="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 II: SCENE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771775" y="1455958"/>
            <a:ext cx="36004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场景二：更大的挑战</a:t>
            </a:r>
            <a:r>
              <a:rPr lang="en-US" sz="285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BrowseComp-ZH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771775" y="2644666"/>
            <a:ext cx="3600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中文谜题多跳推理与联网搜索极限测试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886075" y="3598357"/>
            <a:ext cx="45720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289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86075" y="3918040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谜题总数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771900" y="3598357"/>
            <a:ext cx="114300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零词汇重叠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71900" y="3964474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核心难点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343525" y="3598357"/>
            <a:ext cx="91440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多跳推理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43525" y="3964474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验证重点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零词汇重叠：搜索结果不可用的困境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56007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7630"/>
            <a:ext cx="56007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92222"/>
            <a:ext cx="56007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谜面 (Riddle)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172200" y="1392222"/>
            <a:ext cx="24003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6172200" y="1797630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1392222"/>
            <a:ext cx="24003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答案 (Answer)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1804774"/>
            <a:ext cx="5600700" cy="41612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"名字始于唐代，10公里外始于战国，与世界文化遗产有关…"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72200" y="1804774"/>
            <a:ext cx="2400300" cy="41612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青城山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220897"/>
            <a:ext cx="56007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"某周朝诸侯国非战争行为，主角职权较高，退至窄道…"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72200" y="2220897"/>
            <a:ext cx="24003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回车巷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2640592"/>
            <a:ext cx="56007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"90后男歌手，2014翻唱1979歌曲，2025与原唱同台…"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72200" y="2640592"/>
            <a:ext cx="24003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欢颜 (周深)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1500" y="3349609"/>
            <a:ext cx="8001000" cy="51435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349609"/>
            <a:ext cx="28575" cy="51435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521059"/>
            <a:ext cx="171450" cy="171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7275" y="3521059"/>
            <a:ext cx="488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核心挑战：直接搜索谜面原文返回零相关结果。必须在谜面和答案之间架设推理桥梁。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升级版：假设驱动的搜索架构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3857625" cy="3343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0784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3"/>
          <p:cNvSpPr/>
          <p:nvPr/>
        </p:nvSpPr>
        <p:spPr>
          <a:xfrm>
            <a:off x="742950" y="163131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163131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85850" y="1663238"/>
            <a:ext cx="2133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假设生成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5850" y="1863263"/>
            <a:ext cx="213377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基于预训练知识推理，生成 5 个候选答案。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42950" y="2280949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742950" y="228094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85850" y="2312873"/>
            <a:ext cx="2400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约束提取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5850" y="2512898"/>
            <a:ext cx="24003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锁定谜面中的关键事实约束（如年代、距离、地点）。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42950" y="293058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742950" y="293058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85850" y="2962508"/>
            <a:ext cx="20254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假设驱动搜索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5850" y="3162533"/>
            <a:ext cx="20254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使用候选答案 + 约束条件进行 5 路并行搜索。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42950" y="3580219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6"/>
          <p:cNvSpPr/>
          <p:nvPr/>
        </p:nvSpPr>
        <p:spPr>
          <a:xfrm>
            <a:off x="742950" y="35802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85850" y="3612142"/>
            <a:ext cx="18892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5850" y="3812167"/>
            <a:ext cx="188921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从搜索结果中提取与约束相关的 KV 事实。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714875" y="1320784"/>
            <a:ext cx="3857625" cy="3343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714875" y="1320784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886325" y="163131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4886325" y="163131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29225" y="1663238"/>
            <a:ext cx="2500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 补救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29225" y="1863263"/>
            <a:ext cx="25003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若初始假设未命中，利用搜索到的新线索进行二次迭代。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886325" y="2280949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4886325" y="228094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29225" y="2312873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反向验证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29225" y="2512898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将提取的事实回传至原文进行多轮交叉核查。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886325" y="293058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0"/>
          <p:cNvSpPr/>
          <p:nvPr/>
        </p:nvSpPr>
        <p:spPr>
          <a:xfrm>
            <a:off x="4886325" y="293058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29225" y="2962508"/>
            <a:ext cx="2200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最终生成与纠错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229225" y="3162533"/>
            <a:ext cx="2200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基于验证后的事实链条，输出带引用的最终答案。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86325" y="3734033"/>
            <a:ext cx="35147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核心差异：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场景一为“直接搜索”，场景二引入了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与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通过“先猜后证”的方式在零重叠场景下架设推理桥梁。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场景二：四种搜索策略性能对比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120015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8327"/>
            <a:ext cx="12001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20784"/>
            <a:ext cx="120015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771650" y="1320784"/>
            <a:ext cx="200025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771650" y="1658327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1771650" y="1320784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搜索策略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71900" y="1320784"/>
            <a:ext cx="80010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771900" y="1658327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3771900" y="1320784"/>
            <a:ext cx="80010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调用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572000" y="1320784"/>
            <a:ext cx="80010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658327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320784"/>
            <a:ext cx="80010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搜索次数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372100" y="1320784"/>
            <a:ext cx="120015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372100" y="1658327"/>
            <a:ext cx="12001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5"/>
          <p:cNvSpPr/>
          <p:nvPr/>
        </p:nvSpPr>
        <p:spPr>
          <a:xfrm>
            <a:off x="5372100" y="1320784"/>
            <a:ext cx="120015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耗时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72250" y="1320784"/>
            <a:ext cx="960109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6572250" y="1658327"/>
            <a:ext cx="960109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8"/>
          <p:cNvSpPr/>
          <p:nvPr/>
        </p:nvSpPr>
        <p:spPr>
          <a:xfrm>
            <a:off x="6572250" y="1320784"/>
            <a:ext cx="960109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532359" y="1320784"/>
            <a:ext cx="1040141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532359" y="1658327"/>
            <a:ext cx="1040141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7532359" y="1320784"/>
            <a:ext cx="1040141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准确率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71500" y="1665470"/>
            <a:ext cx="120015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771650" y="1665470"/>
            <a:ext cx="2000250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谜面直接搜索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71900" y="1665470"/>
            <a:ext cx="80010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0" y="1665470"/>
            <a:ext cx="80010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72100" y="1665470"/>
            <a:ext cx="120015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15-38s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72250" y="1665470"/>
            <a:ext cx="960109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32359" y="1665470"/>
            <a:ext cx="1040141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1500" y="198515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B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771650" y="1985153"/>
            <a:ext cx="2000250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+ Gap-fill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771900" y="198515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3-7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72000" y="198515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72100" y="198515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40-90s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572250" y="1985153"/>
            <a:ext cx="960109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32359" y="1985153"/>
            <a:ext cx="1040141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1500" y="2308408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C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771650" y="2308408"/>
            <a:ext cx="2000250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假设驱动 + Gap-fill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771900" y="2308408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4-10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0" y="2308408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5-9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372100" y="2308408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90-250s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572250" y="2308408"/>
            <a:ext cx="960109" cy="32325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572250" y="2624519"/>
            <a:ext cx="96010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3"/>
          <p:cNvSpPr/>
          <p:nvPr/>
        </p:nvSpPr>
        <p:spPr>
          <a:xfrm>
            <a:off x="6572250" y="2308408"/>
            <a:ext cx="960109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~75%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532359" y="2308408"/>
            <a:ext cx="1040141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~65%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71500" y="263166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D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1771650" y="2631663"/>
            <a:ext cx="2000250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+ 完整 SEVE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771900" y="263166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16-25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72000" y="263166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4-9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372100" y="263166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200-350s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572250" y="2631663"/>
            <a:ext cx="960109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~75%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532359" y="2631663"/>
            <a:ext cx="1040141" cy="32325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5" name="Shape 52"/>
          <p:cNvSpPr/>
          <p:nvPr/>
        </p:nvSpPr>
        <p:spPr>
          <a:xfrm>
            <a:off x="7532359" y="2947774"/>
            <a:ext cx="104014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3"/>
          <p:cNvSpPr/>
          <p:nvPr/>
        </p:nvSpPr>
        <p:spPr>
          <a:xfrm>
            <a:off x="7532359" y="2631663"/>
            <a:ext cx="1040141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70%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571500" y="3387114"/>
            <a:ext cx="3886200" cy="11715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Shape 55"/>
          <p:cNvSpPr/>
          <p:nvPr/>
        </p:nvSpPr>
        <p:spPr>
          <a:xfrm>
            <a:off x="571500" y="3387114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5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697867"/>
            <a:ext cx="142875" cy="142875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957263" y="3672864"/>
            <a:ext cx="134135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召回率的质变 (A→C)</a:t>
            </a:r>
            <a:endParaRPr lang="en-US" sz="1000" dirty="0"/>
          </a:p>
        </p:txBody>
      </p:sp>
      <p:sp>
        <p:nvSpPr>
          <p:cNvPr id="61" name="Text 57"/>
          <p:cNvSpPr/>
          <p:nvPr/>
        </p:nvSpPr>
        <p:spPr>
          <a:xfrm>
            <a:off x="742950" y="3951470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从直接搜索转向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假设驱动搜索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，召回率从 30% 跃升至 75%。这证明了在零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重叠场景下，LLM 的初始推理是开启搜索之门的钥匙。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4686300" y="3387114"/>
            <a:ext cx="3886200" cy="11715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Shape 59"/>
          <p:cNvSpPr/>
          <p:nvPr/>
        </p:nvSpPr>
        <p:spPr>
          <a:xfrm>
            <a:off x="4686300" y="3387114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3697867"/>
            <a:ext cx="142875" cy="142875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072063" y="3672864"/>
            <a:ext cx="1198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可信度溢价 (C→D)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857750" y="3951470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 验证环节虽然增加了 5-10 倍的计算成本，但换取了 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~5pp 的准确率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提升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以及极其珍贵的“可追溯引用”，实现了可信度的溢价。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方法 D 整体表现：从假设到验证的闭环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463659"/>
            <a:ext cx="4130371" cy="930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3659"/>
            <a:ext cx="57150" cy="9304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806559"/>
            <a:ext cx="11430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假设命中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2950" y="2067306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初始推理覆盖正确答案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86842" y="1780663"/>
            <a:ext cx="643579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16/20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71500" y="2508433"/>
            <a:ext cx="4130371" cy="930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508433"/>
            <a:ext cx="57150" cy="9304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742950" y="2851333"/>
            <a:ext cx="130819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最终正确输出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2950" y="3112080"/>
            <a:ext cx="130819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经过搜索、Gap-fill 与验证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86842" y="2825437"/>
            <a:ext cx="643579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14/20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71500" y="3459445"/>
            <a:ext cx="4130371" cy="930473"/>
          </a:xfrm>
          <a:prstGeom prst="rect">
            <a:avLst/>
          </a:prstGeom>
          <a:solidFill>
            <a:srgbClr val="F8FAFC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459445"/>
            <a:ext cx="57150" cy="930473"/>
          </a:xfrm>
          <a:prstGeom prst="rect">
            <a:avLst/>
          </a:prstGeom>
          <a:solidFill>
            <a:srgbClr val="D5DDE7"/>
          </a:solidFill>
          <a:ln/>
        </p:spPr>
      </p:sp>
      <p:sp>
        <p:nvSpPr>
          <p:cNvPr id="16" name="Text 13"/>
          <p:cNvSpPr/>
          <p:nvPr/>
        </p:nvSpPr>
        <p:spPr>
          <a:xfrm>
            <a:off x="742950" y="3802345"/>
            <a:ext cx="11430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未命中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2950" y="4063092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搜索方向从开始即偏差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029884" y="3776449"/>
            <a:ext cx="500537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4/20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130496" y="1369898"/>
            <a:ext cx="3442004" cy="30200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0496" y="1369898"/>
            <a:ext cx="3442004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809" y="1769055"/>
            <a:ext cx="157163" cy="15716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87696" y="1741373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流水线损失点分析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809" y="2125349"/>
            <a:ext cx="114300" cy="8496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73409" y="2267778"/>
            <a:ext cx="2784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提取遗漏 (1 题)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573409" y="2546384"/>
            <a:ext cx="27847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结构化抽取阶段未能捕捉到关键的验证约束，导致信息链条断裂。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809" y="3146459"/>
            <a:ext cx="114300" cy="8496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73409" y="3288888"/>
            <a:ext cx="2784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验证误杀 (1 题)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573409" y="3567494"/>
            <a:ext cx="27847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反向验证层因字面匹配不严谨，将正确的事实判定为 NO 并删除。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71500" y="4536281"/>
            <a:ext cx="80010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571500" y="4536281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5"/>
          <p:cNvSpPr/>
          <p:nvPr/>
        </p:nvSpPr>
        <p:spPr>
          <a:xfrm>
            <a:off x="571500" y="4536281"/>
            <a:ext cx="8001000" cy="37147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核心发现：V0 假设命中率是方法 D 的 Accuracy 上限。搜索不创造新知识，假设中没有的方向，后续难以追回。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案例分析 1：青城山 - 假设桥接成功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3506912" cy="167163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0784"/>
            <a:ext cx="3506912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13691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975" y="1708333"/>
            <a:ext cx="672322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谜面原文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5813" y="2033374"/>
            <a:ext cx="307828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"名字始于唐代，10公里外始于战国，与一项世界文化遗产有关……请问这是哪里？"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7279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7238" y="3256741"/>
            <a:ext cx="12193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青城山距都江堰 10 公里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89806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7238" y="3469267"/>
            <a:ext cx="15239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青城山-都江堰为世界文化遗产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02332"/>
            <a:ext cx="114300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238" y="3681794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都江堰始建于战国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14859"/>
            <a:ext cx="114300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57238" y="3894320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建福宫始建于唐代</a:t>
            </a:r>
            <a:endParaRPr lang="en-US" sz="800" dirty="0"/>
          </a:p>
        </p:txBody>
      </p:sp>
      <p:sp>
        <p:nvSpPr>
          <p:cNvPr id="17" name="Shape 9"/>
          <p:cNvSpPr/>
          <p:nvPr/>
        </p:nvSpPr>
        <p:spPr>
          <a:xfrm>
            <a:off x="4364162" y="1320784"/>
            <a:ext cx="4208338" cy="774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0"/>
          <p:cNvSpPr/>
          <p:nvPr/>
        </p:nvSpPr>
        <p:spPr>
          <a:xfrm>
            <a:off x="4364162" y="1320784"/>
            <a:ext cx="28575" cy="77465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037" y="1469017"/>
            <a:ext cx="171450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792787" y="1542017"/>
            <a:ext cx="363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LLM 推理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4792787" y="1742042"/>
            <a:ext cx="36368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基于“道教名山”、“四川”、“世界遗产”等线索，生成候选：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青城山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、都江堰、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峨眉山。</a:t>
            </a:r>
            <a:endParaRPr lang="en-US" sz="800" dirty="0"/>
          </a:p>
        </p:txBody>
      </p:sp>
      <p:sp>
        <p:nvSpPr>
          <p:cNvPr id="22" name="Shape 13"/>
          <p:cNvSpPr/>
          <p:nvPr/>
        </p:nvSpPr>
        <p:spPr>
          <a:xfrm>
            <a:off x="4364162" y="2209735"/>
            <a:ext cx="4208338" cy="6299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4"/>
          <p:cNvSpPr/>
          <p:nvPr/>
        </p:nvSpPr>
        <p:spPr>
          <a:xfrm>
            <a:off x="4364162" y="2209735"/>
            <a:ext cx="28575" cy="629989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037" y="2357968"/>
            <a:ext cx="171450" cy="1714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792787" y="2380961"/>
            <a:ext cx="30259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约束提取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4792787" y="2580986"/>
            <a:ext cx="302590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锁定关键搜索词：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["唐代", "战国", "10公里", "世界文化遗产"]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4364162" y="2954024"/>
            <a:ext cx="4208338" cy="774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18"/>
          <p:cNvSpPr/>
          <p:nvPr/>
        </p:nvSpPr>
        <p:spPr>
          <a:xfrm>
            <a:off x="4364162" y="2954024"/>
            <a:ext cx="28575" cy="77465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7037" y="3102257"/>
            <a:ext cx="171450" cy="17145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792787" y="3126367"/>
            <a:ext cx="363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假设驱动搜索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4792787" y="3326392"/>
            <a:ext cx="36368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执行搜索：“青城山 唐代 命名 世界文化遗产 战国遗址”，成功命中百度百科相关词条。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4364162" y="3842975"/>
            <a:ext cx="4208338" cy="774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22"/>
          <p:cNvSpPr/>
          <p:nvPr/>
        </p:nvSpPr>
        <p:spPr>
          <a:xfrm>
            <a:off x="4364162" y="3842975"/>
            <a:ext cx="28575" cy="77465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7037" y="3991208"/>
            <a:ext cx="171450" cy="17145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792787" y="4035632"/>
            <a:ext cx="363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原文验证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4792787" y="4235657"/>
            <a:ext cx="36368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将搜索到的事实与谜面约束逐一比对，确认所有条件均完美匹配，输出最终答案。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案例分析 2：回车巷 - Gap-fill 补救机制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49347"/>
            <a:ext cx="8001000" cy="47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49347"/>
            <a:ext cx="28575" cy="4771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520809"/>
            <a:ext cx="76581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"某周朝诸侯国非战争行为，主角职权较高，面对羞辱退至窄道，日后和解。碑文由地方书法家撰写…"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012277"/>
            <a:ext cx="2571750" cy="2200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012277"/>
            <a:ext cx="2571750" cy="2857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8" y="2194443"/>
            <a:ext cx="257175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375" y="2623068"/>
            <a:ext cx="228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初始假设失败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14375" y="2923105"/>
            <a:ext cx="2286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初始生成的 5 个候选答案均未命中：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808025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9"/>
          <p:cNvSpPr/>
          <p:nvPr/>
        </p:nvSpPr>
        <p:spPr>
          <a:xfrm>
            <a:off x="808025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六尺巷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1239831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1"/>
          <p:cNvSpPr/>
          <p:nvPr/>
        </p:nvSpPr>
        <p:spPr>
          <a:xfrm>
            <a:off x="1239831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将相府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1671638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1671638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管鲍祠</a:t>
            </a:r>
            <a:endParaRPr lang="en-US" sz="600" dirty="0"/>
          </a:p>
        </p:txBody>
      </p:sp>
      <p:sp>
        <p:nvSpPr>
          <p:cNvPr id="18" name="Shape 14"/>
          <p:cNvSpPr/>
          <p:nvPr/>
        </p:nvSpPr>
        <p:spPr>
          <a:xfrm>
            <a:off x="2103444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2103444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晏子祠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2535250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/>
          <p:nvPr/>
        </p:nvSpPr>
        <p:spPr>
          <a:xfrm>
            <a:off x="2535250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和合园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>
            <a:off x="3286125" y="2012277"/>
            <a:ext cx="2571750" cy="2200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9"/>
          <p:cNvSpPr/>
          <p:nvPr/>
        </p:nvSpPr>
        <p:spPr>
          <a:xfrm>
            <a:off x="3286125" y="2012277"/>
            <a:ext cx="257175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2194443"/>
            <a:ext cx="257175" cy="2571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29000" y="2623068"/>
            <a:ext cx="228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关联搜索发现线索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429000" y="2923105"/>
            <a:ext cx="22860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在对候选词的并行搜索中，H5 "管鲍祠 齐国" 的结果中意外出现了：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429000" y="3351730"/>
            <a:ext cx="2286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"...蔺相如回车巷..."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6000750" y="2012277"/>
            <a:ext cx="2571750" cy="2200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4"/>
          <p:cNvSpPr/>
          <p:nvPr/>
        </p:nvSpPr>
        <p:spPr>
          <a:xfrm>
            <a:off x="6000750" y="2012277"/>
            <a:ext cx="2571750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038" y="2194443"/>
            <a:ext cx="257175" cy="2571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43625" y="2623068"/>
            <a:ext cx="228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 成功补救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143625" y="2923105"/>
            <a:ext cx="2286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系统识别到新实体 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回车巷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，触发二次验证：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29375" y="3190996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buSzPct val="100000"/>
              <a:buChar char="•"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赵国（周朝诸侯国） ✓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429375" y="3326727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buSzPct val="100000"/>
              <a:buChar char="•"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蔺相如避让廉颇 ✓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429375" y="3462458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buSzPct val="100000"/>
              <a:buChar char="•"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碑文由李守诚撰写 ✓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场景二实验结果深层分析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786188" cy="28842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786188" cy="285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606534"/>
            <a:ext cx="3500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 (Recall) 的质变提升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961936"/>
            <a:ext cx="3500438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86313" y="1392222"/>
            <a:ext cx="3786188" cy="1143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5"/>
          <p:cNvSpPr/>
          <p:nvPr/>
        </p:nvSpPr>
        <p:spPr>
          <a:xfrm>
            <a:off x="4786313" y="1392222"/>
            <a:ext cx="28575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6"/>
          <p:cNvSpPr/>
          <p:nvPr/>
        </p:nvSpPr>
        <p:spPr>
          <a:xfrm>
            <a:off x="4957763" y="1677972"/>
            <a:ext cx="34432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架设“推理桥梁”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957763" y="1985153"/>
            <a:ext cx="34432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在零重叠场景下，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假设生成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不仅是猜测，更是为搜索引擎提供了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必要的关键词。没有假设，搜索将陷入“无米之炊”的境地。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86313" y="2706672"/>
            <a:ext cx="3786188" cy="1143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4786313" y="2706672"/>
            <a:ext cx="28575" cy="1143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0"/>
          <p:cNvSpPr/>
          <p:nvPr/>
        </p:nvSpPr>
        <p:spPr>
          <a:xfrm>
            <a:off x="4957763" y="2992422"/>
            <a:ext cx="34432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召回率决定准确率上限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57763" y="3299603"/>
            <a:ext cx="34432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实验证明，V0 的命中率（~80%）直接决定了最终 Accuracy 的上限。搜索无法创造新知识，只能验证已有的推理方向。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1500" y="4307681"/>
            <a:ext cx="8001000" cy="4071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" y="4307681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86275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2975" y="4514850"/>
            <a:ext cx="63107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核心启示：从 A 到 C 的召回率飞跃（30% → 75%）证明了“假设驱动搜索”是解决多跳推理谜题的决定性因素。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场景二：典型失败模式与根因分析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200025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7630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92222"/>
            <a:ext cx="200025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失败模式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571750" y="1392222"/>
            <a:ext cx="280035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571750" y="1797630"/>
            <a:ext cx="28003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571750" y="1392222"/>
            <a:ext cx="280035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根因分析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5372100" y="1797630"/>
            <a:ext cx="32004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典型案例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1500" y="1804774"/>
            <a:ext cx="2000250" cy="5715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假设偏差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71750" y="1804774"/>
            <a:ext cx="2800350" cy="5715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初始推理方向错误，导致后续搜索无法触达正确答案。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72100" y="1804774"/>
            <a:ext cx="3200400" cy="5715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在某历史谜题中，V0 错误锁定了诸侯国，导致 5 路搜索均无果。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" y="2376274"/>
            <a:ext cx="20002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提取遗漏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71750" y="2376274"/>
            <a:ext cx="28003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结构化抽取阶段未能捕捉到谜面中的隐性约束。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72100" y="2376274"/>
            <a:ext cx="320040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忽略了“10公里外”这一关键距离约束，导致验证链条不完整。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2951345"/>
            <a:ext cx="20002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验证误杀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571750" y="2951345"/>
            <a:ext cx="28003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反向验证层因字面匹配不严谨，将正确事实判定为 NO。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72100" y="2951345"/>
            <a:ext cx="320040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因原文表述与抽取 KV 存在微小语义差异，导致正确答案被剔除。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1500" y="3815739"/>
            <a:ext cx="8001000" cy="5429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3815739"/>
            <a:ext cx="800100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987189"/>
            <a:ext cx="171450" cy="1714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7275" y="3987189"/>
            <a:ext cx="68224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核心启示：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场景二的失败多源于</a:t>
            </a: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推理链条的脆弱性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。提升 V0 假设的覆盖度与验证层的语义理解能力是优化的重中之重。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跨场景对比：Conflict-20 vs BrowseComp-ZH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7630"/>
            <a:ext cx="16002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92222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对比维度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171700" y="1392222"/>
            <a:ext cx="32004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171700" y="1797630"/>
            <a:ext cx="32004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171700" y="139222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场景一：Conflict-20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5372100" y="1797630"/>
            <a:ext cx="32004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场景二：BrowseComp-ZH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1804774"/>
            <a:ext cx="1600200" cy="41612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213753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1804774"/>
            <a:ext cx="1600200" cy="41612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核心挑战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300288" y="194586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搜索结果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757488" y="1945863"/>
            <a:ext cx="6858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可靠但不一致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500688" y="194586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搜索结果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57888" y="1945863"/>
            <a:ext cx="571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几乎不可用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71500" y="2220897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263344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2220897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搜索策略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71700" y="2220897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直接搜索 (Direct Search)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72100" y="2220897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假设驱动搜索 (Hypothesis-driven)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71500" y="2640592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571500" y="3053144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" y="2640592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流水线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71700" y="264059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阶段 (抽取-生成-验证)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72100" y="264059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阶段 (增加 V0 与 Gap-fill)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71500" y="3060288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571500" y="347283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" y="3060288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核心价值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171700" y="3060288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透明呈现冲突与纠错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372100" y="3060288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架设推理桥梁与事实核查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71500" y="3769305"/>
            <a:ext cx="3857625" cy="106441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3769305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4"/>
          <p:cNvSpPr/>
          <p:nvPr/>
        </p:nvSpPr>
        <p:spPr>
          <a:xfrm>
            <a:off x="742950" y="4055055"/>
            <a:ext cx="35147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场景一价值：幻觉“刹车”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2950" y="4355092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在信息丰富的环境下，SEVE 的核心作用是识别矛盾并及时纠错，防止模型盲目合成错误信息。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714875" y="3769305"/>
            <a:ext cx="3857625" cy="106441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4714875" y="3769305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1" name="Text 38"/>
          <p:cNvSpPr/>
          <p:nvPr/>
        </p:nvSpPr>
        <p:spPr>
          <a:xfrm>
            <a:off x="4886325" y="4055055"/>
            <a:ext cx="35147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场景二价值：推理“导航”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886325" y="4355092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在信息匮乏的环境下，SEVE 通过假设驱动引导搜索，并在复杂的逻辑链条中确保每一步都有据可查。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成本收益分析：可信度的代价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463659"/>
            <a:ext cx="3857625" cy="29575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3659"/>
            <a:ext cx="3857625" cy="28575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9047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172593"/>
            <a:ext cx="3429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高昂的计算成本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3" y="2656582"/>
            <a:ext cx="87511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4798" y="2613720"/>
            <a:ext cx="297001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16-25 次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LLM 调用/题，是 Vanilla RAG 的 20 倍以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上。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3" y="3210892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4798" y="3168030"/>
            <a:ext cx="276516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200-350s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端到端延迟，难以满足实时交互需求。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3559485"/>
            <a:ext cx="87511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44798" y="3516623"/>
            <a:ext cx="297001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多路并行搜索与多轮验证带来的 </a:t>
            </a: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 消耗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显著增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加。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4714875" y="1463659"/>
            <a:ext cx="3857625" cy="29575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8"/>
          <p:cNvSpPr/>
          <p:nvPr/>
        </p:nvSpPr>
        <p:spPr>
          <a:xfrm>
            <a:off x="4714875" y="1463659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9"/>
          <p:cNvSpPr/>
          <p:nvPr/>
        </p:nvSpPr>
        <p:spPr>
          <a:xfrm>
            <a:off x="4929188" y="2172593"/>
            <a:ext cx="3429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不可替代的可信收益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38" y="2656582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00675" y="2613720"/>
            <a:ext cx="278260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~5pp 准确率提升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，在极限推理场景下至关重要。</a:t>
            </a:r>
            <a:endParaRPr lang="en-US" sz="9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938" y="3005175"/>
            <a:ext cx="100013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00675" y="2962312"/>
            <a:ext cx="29575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显式冲突标注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，让模型从“盲目合成”转向“透明呈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现”。</a:t>
            </a:r>
            <a:endParaRPr lang="en-US" sz="9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938" y="3559485"/>
            <a:ext cx="100013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00675" y="3516623"/>
            <a:ext cx="29575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全链路可追溯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，每一条声明都有原文证据闭环支撑。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571500" y="4343400"/>
            <a:ext cx="80010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4"/>
          <p:cNvSpPr/>
          <p:nvPr/>
        </p:nvSpPr>
        <p:spPr>
          <a:xfrm>
            <a:off x="571500" y="434340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15"/>
          <p:cNvSpPr/>
          <p:nvPr/>
        </p:nvSpPr>
        <p:spPr>
          <a:xfrm>
            <a:off x="571500" y="4343400"/>
            <a:ext cx="8001000" cy="37147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结论：SEVE 并非通用方案，而是针对高价值、高风险场景的“可信度溢价”解决方案。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场景二实验结论总结与启示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576174"/>
            <a:ext cx="214313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8713" y="1735122"/>
            <a:ext cx="3157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假设驱动是核心钥匙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28713" y="2053019"/>
            <a:ext cx="31575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在零重叠场景下，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V0 假设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架设了推理桥梁，将召回率从 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提升至 75%，是解决多跳问题的关键。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86300" y="1392222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4686300" y="1392222"/>
            <a:ext cx="388620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576174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4950" y="1735122"/>
            <a:ext cx="30861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 提供容错保障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14950" y="2053019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即便初始假设偏离，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Gap-fill 机制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能通过关联搜索挽救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正确答案，显著增强了流水线的鲁棒性。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078147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078147"/>
            <a:ext cx="3886200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3421047"/>
            <a:ext cx="33718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带来可信度溢价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14400" y="3738944"/>
            <a:ext cx="33718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虽然成本较高，但 SEVE 换取了 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~5pp 的准确率提升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，并提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供了可追溯的证据链，实现了高价值场景的可信交付。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86300" y="3078147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4"/>
          <p:cNvSpPr/>
          <p:nvPr/>
        </p:nvSpPr>
        <p:spPr>
          <a:xfrm>
            <a:off x="4686300" y="3078147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262099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14950" y="3421047"/>
            <a:ext cx="30861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未来：语义验证的必要性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14950" y="3738944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场景二的失败案例再次印证，验证层需从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字面匹配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转向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语义推理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，以减少误删并提升极端场景下的精度。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2026-06-09T12:51:09Z</dcterms:created>
  <dcterms:modified xsi:type="dcterms:W3CDTF">2026-06-09T12:51:09Z</dcterms:modified>
</cp:coreProperties>
</file>