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8" d="100"/>
          <a:sy n="218" d="100"/>
        </p:scale>
        <p:origin x="-474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A28DA-0D0F-47F5-A4DB-62AF1B3E74FA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74ED3-3CC8-464A-8935-5478971C93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699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5.jpe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jpe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68.jpeg"/><Relationship Id="rId7" Type="http://schemas.openxmlformats.org/officeDocument/2006/relationships/image" Target="../media/image41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72.png"/><Relationship Id="rId5" Type="http://schemas.openxmlformats.org/officeDocument/2006/relationships/image" Target="../media/image38.png"/><Relationship Id="rId10" Type="http://schemas.openxmlformats.org/officeDocument/2006/relationships/image" Target="../media/image71.png"/><Relationship Id="rId4" Type="http://schemas.openxmlformats.org/officeDocument/2006/relationships/image" Target="../media/image69.png"/><Relationship Id="rId9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5.jpe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5.jpe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71675" y="1412956"/>
            <a:ext cx="52006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kern="0" spc="2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RESEARCH PRESENTATION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971675" y="1845292"/>
            <a:ext cx="520065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基于结构化抽取与反向验证的
联网大模型幻觉缓解方法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1971675" y="2976851"/>
            <a:ext cx="52006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联网 RAG 幻觉治理的新路径探索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373" y="3580498"/>
            <a:ext cx="112514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468612" y="3559066"/>
            <a:ext cx="1050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汇报人：Manus AI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0500" y="3580498"/>
            <a:ext cx="112514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88739" y="3559066"/>
            <a:ext cx="120062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日期：2026年6月9日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0814" y="3580498"/>
            <a:ext cx="112514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59053" y="3559066"/>
            <a:ext cx="14145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领域：大语言模型 / RAG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SEVE：联网 RAG 的幻觉缓解新范式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606534"/>
            <a:ext cx="2476481" cy="26003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06534"/>
            <a:ext cx="2476481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908358"/>
            <a:ext cx="385763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2458427"/>
            <a:ext cx="204785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结构化抽取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85813" y="2819186"/>
            <a:ext cx="204785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将非结构化的搜索结果转化为精细的 Key-Value 对，实现对原始信息的深度理解与解构。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333731" y="1606534"/>
            <a:ext cx="2476509" cy="26003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6"/>
          <p:cNvSpPr/>
          <p:nvPr/>
        </p:nvSpPr>
        <p:spPr>
          <a:xfrm>
            <a:off x="3333731" y="1606534"/>
            <a:ext cx="2476509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044" y="1908358"/>
            <a:ext cx="342900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48044" y="2458427"/>
            <a:ext cx="2047884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反向验证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548044" y="2819186"/>
            <a:ext cx="204788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将抽取的每一个事实片段回传给原始信源进行比对，通过证据闭环确保信息的真实性。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095991" y="1606534"/>
            <a:ext cx="2476481" cy="26003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0"/>
          <p:cNvSpPr/>
          <p:nvPr/>
        </p:nvSpPr>
        <p:spPr>
          <a:xfrm>
            <a:off x="6095991" y="1606534"/>
            <a:ext cx="2476481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0303" y="1908358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10303" y="2458427"/>
            <a:ext cx="204785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事实驱动生成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310303" y="2819186"/>
            <a:ext cx="204785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仅基于经过验证的事实进行最终表述，从根本上杜绝模型在推理过程中的自我臆造。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71500" y="4280892"/>
            <a:ext cx="8001000" cy="43398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571500" y="4280892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5"/>
          <p:cNvSpPr/>
          <p:nvPr/>
        </p:nvSpPr>
        <p:spPr>
          <a:xfrm>
            <a:off x="571500" y="4280892"/>
            <a:ext cx="8001000" cy="433983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核心理念：解耦理解与表达，建立可追溯的事实链条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联网 RAG 的三大幻觉痛点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260605"/>
            <a:ext cx="8001000" cy="10287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60605"/>
            <a:ext cx="28575" cy="10287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440985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5863" y="1603505"/>
            <a:ext cx="54006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搜索结果冲突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85863" y="1964264"/>
            <a:ext cx="54006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多源信息相互矛盾（如不同交易所的币价、不同口径的人口数据），模型难以识别并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盲目合成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71500" y="2517905"/>
            <a:ext cx="8001000" cy="10287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6"/>
          <p:cNvSpPr/>
          <p:nvPr/>
        </p:nvSpPr>
        <p:spPr>
          <a:xfrm>
            <a:off x="571500" y="2517905"/>
            <a:ext cx="28575" cy="10287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698285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5863" y="2860805"/>
            <a:ext cx="47577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知识更新滞后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185863" y="3221564"/>
            <a:ext cx="47577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当搜索结果中存在过时信息时，模型往往优先信任其预训练知识，导致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事实性陈旧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71500" y="3775205"/>
            <a:ext cx="8001000" cy="10287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3775205"/>
            <a:ext cx="28575" cy="10287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955585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5863" y="4118105"/>
            <a:ext cx="54006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推理断层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185863" y="4478864"/>
            <a:ext cx="54006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在需要多跳推理的任务中，模型无法在碎片化的搜索片段间建立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逻辑闭环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，从而产生逻辑幻觉。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SEVE 架构设计：解耦理解与表达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285750" y="1892284"/>
            <a:ext cx="1848445" cy="19573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1892284"/>
            <a:ext cx="1848445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098" y="2120884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625" y="2692384"/>
            <a:ext cx="156269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输入与检索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28625" y="2992422"/>
            <a:ext cx="156269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接收用户 Query，通过搜索引擎获取多源参考文档片段。</a:t>
            </a:r>
            <a:endParaRPr lang="en-US" sz="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7070" y="2778109"/>
            <a:ext cx="107156" cy="17145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27102" y="1892284"/>
            <a:ext cx="1848445" cy="19573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6"/>
          <p:cNvSpPr/>
          <p:nvPr/>
        </p:nvSpPr>
        <p:spPr>
          <a:xfrm>
            <a:off x="2527102" y="1892284"/>
            <a:ext cx="1848445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8449" y="2120884"/>
            <a:ext cx="285750" cy="285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669977" y="2692384"/>
            <a:ext cx="156269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结构化抽取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2669977" y="2992422"/>
            <a:ext cx="156269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提取关键事实，转化为标准化的 Key-Value 事实库。</a:t>
            </a:r>
            <a:endParaRPr lang="en-US" sz="8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8422" y="2778109"/>
            <a:ext cx="107156" cy="17145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768453" y="1892284"/>
            <a:ext cx="1848445" cy="19573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0"/>
          <p:cNvSpPr/>
          <p:nvPr/>
        </p:nvSpPr>
        <p:spPr>
          <a:xfrm>
            <a:off x="4768453" y="1892284"/>
            <a:ext cx="1848445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9801" y="2120884"/>
            <a:ext cx="285750" cy="2857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911328" y="2692384"/>
            <a:ext cx="156269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反向验证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4911328" y="2992422"/>
            <a:ext cx="156269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将 KV 事实回传至原文，核查支撑证据，标注冲突项。</a:t>
            </a:r>
            <a:endParaRPr lang="en-US" sz="8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9773" y="2778109"/>
            <a:ext cx="107156" cy="17145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7009805" y="1892284"/>
            <a:ext cx="1848445" cy="19573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14"/>
          <p:cNvSpPr/>
          <p:nvPr/>
        </p:nvSpPr>
        <p:spPr>
          <a:xfrm>
            <a:off x="7009805" y="1892284"/>
            <a:ext cx="1848445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6871" y="2106597"/>
            <a:ext cx="214313" cy="28575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152680" y="2678097"/>
            <a:ext cx="156269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最终生成</a:t>
            </a:r>
            <a:endParaRPr lang="en-US" sz="1000" dirty="0"/>
          </a:p>
        </p:txBody>
      </p:sp>
      <p:sp>
        <p:nvSpPr>
          <p:cNvPr id="26" name="Text 16"/>
          <p:cNvSpPr/>
          <p:nvPr/>
        </p:nvSpPr>
        <p:spPr>
          <a:xfrm>
            <a:off x="7152680" y="2978134"/>
            <a:ext cx="156269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基于验证后的事实链条，生成具备可追溯性的最终回答。</a:t>
            </a:r>
            <a:endParaRPr lang="en-US" sz="800" dirty="0"/>
          </a:p>
        </p:txBody>
      </p:sp>
      <p:sp>
        <p:nvSpPr>
          <p:cNvPr id="27" name="Shape 17"/>
          <p:cNvSpPr/>
          <p:nvPr/>
        </p:nvSpPr>
        <p:spPr>
          <a:xfrm>
            <a:off x="571500" y="4179094"/>
            <a:ext cx="8001000" cy="3929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18"/>
          <p:cNvSpPr/>
          <p:nvPr/>
        </p:nvSpPr>
        <p:spPr>
          <a:xfrm>
            <a:off x="571500" y="4179094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5096" y="4421981"/>
            <a:ext cx="160734" cy="12858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627268" y="4400550"/>
            <a:ext cx="9001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端到端事实对齐</a:t>
            </a:r>
            <a:endParaRPr lang="en-US" sz="95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74601" y="4421981"/>
            <a:ext cx="112514" cy="12858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4358553" y="4400550"/>
            <a:ext cx="771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冲突显式处理</a:t>
            </a:r>
            <a:endParaRPr lang="en-US" sz="95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77298" y="4421981"/>
            <a:ext cx="128588" cy="12858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977323" y="4400550"/>
            <a:ext cx="771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证据闭环驱动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双场景验证：冲突检测与多跳推理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463659"/>
            <a:ext cx="3857625" cy="31003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63659"/>
            <a:ext cx="3857625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690474"/>
            <a:ext cx="250031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2172593"/>
            <a:ext cx="34290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场景一：Conflict-20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63" y="2637997"/>
            <a:ext cx="100013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57300" y="2585145"/>
            <a:ext cx="64293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核心挑战：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1985963" y="2585145"/>
            <a:ext cx="7715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多源信息冲突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563" y="2958015"/>
            <a:ext cx="100013" cy="1000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57300" y="2905162"/>
            <a:ext cx="2571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覆盖类型：交易所价差、统计口径、信源差异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563" y="3278032"/>
            <a:ext cx="100013" cy="10001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57300" y="3225180"/>
            <a:ext cx="2571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验证重点：模型对矛盾信息的识别与纠错能力</a:t>
            </a:r>
            <a:endParaRPr lang="en-US" sz="9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563" y="3598050"/>
            <a:ext cx="100013" cy="10001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57300" y="3545198"/>
            <a:ext cx="249333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数据规模：20 个具有代表性的真实冲突案例</a:t>
            </a:r>
            <a:endParaRPr lang="en-US" sz="950" dirty="0"/>
          </a:p>
        </p:txBody>
      </p:sp>
      <p:sp>
        <p:nvSpPr>
          <p:cNvPr id="17" name="Shape 9"/>
          <p:cNvSpPr/>
          <p:nvPr/>
        </p:nvSpPr>
        <p:spPr>
          <a:xfrm>
            <a:off x="4714875" y="1463659"/>
            <a:ext cx="3857625" cy="31003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0"/>
          <p:cNvSpPr/>
          <p:nvPr/>
        </p:nvSpPr>
        <p:spPr>
          <a:xfrm>
            <a:off x="4714875" y="1463659"/>
            <a:ext cx="3857625" cy="28575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1690474"/>
            <a:ext cx="285750" cy="2857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929188" y="2172593"/>
            <a:ext cx="34290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场景二：BrowseComp-ZH</a:t>
            </a:r>
            <a:endParaRPr lang="en-US" sz="14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4938" y="2637997"/>
            <a:ext cx="100013" cy="10001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400675" y="2585145"/>
            <a:ext cx="64293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核心挑战：</a:t>
            </a:r>
            <a:endParaRPr lang="en-US" sz="950" dirty="0"/>
          </a:p>
        </p:txBody>
      </p:sp>
      <p:sp>
        <p:nvSpPr>
          <p:cNvPr id="23" name="Text 13"/>
          <p:cNvSpPr/>
          <p:nvPr/>
        </p:nvSpPr>
        <p:spPr>
          <a:xfrm>
            <a:off x="6129338" y="2585145"/>
            <a:ext cx="7715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复杂多跳推理</a:t>
            </a:r>
            <a:endParaRPr lang="en-US" sz="9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4938" y="2958015"/>
            <a:ext cx="100013" cy="100013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400675" y="2905162"/>
            <a:ext cx="23145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任务类型：中文谜题、人物关系链条追溯</a:t>
            </a:r>
            <a:endParaRPr lang="en-US" sz="95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4938" y="3278032"/>
            <a:ext cx="100013" cy="100013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400675" y="3225180"/>
            <a:ext cx="23145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验证重点：零词汇重叠下的逻辑链条构建</a:t>
            </a:r>
            <a:endParaRPr lang="en-US" sz="95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4938" y="3598050"/>
            <a:ext cx="100013" cy="100013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400675" y="3545198"/>
            <a:ext cx="223616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数据规模：10 个高难度中文综合推理题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场景一：实验设计与冲突类型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07474"/>
            <a:ext cx="1600200" cy="3053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598581"/>
            <a:ext cx="16002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07474"/>
            <a:ext cx="1600200" cy="305395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冲突类型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171700" y="1307474"/>
            <a:ext cx="2400300" cy="3053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2171700" y="1598581"/>
            <a:ext cx="24003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2171700" y="1307474"/>
            <a:ext cx="2400300" cy="305395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代表问题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0" y="1307474"/>
            <a:ext cx="4000500" cy="3053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1598581"/>
            <a:ext cx="40005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1307474"/>
            <a:ext cx="4000500" cy="305395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冲突根源分析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71500" y="1605725"/>
            <a:ext cx="1600200" cy="30182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交易所价差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171700" y="1605725"/>
            <a:ext cx="2400300" cy="30182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Bitcoin 现价？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572000" y="1605725"/>
            <a:ext cx="4000500" cy="30182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Coinbase / Binance / Kraken 实时交易价差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1500" y="1907549"/>
            <a:ext cx="1600200" cy="305395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统计口径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171700" y="1907549"/>
            <a:ext cx="2400300" cy="305395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上海人口？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572000" y="1907549"/>
            <a:ext cx="4000500" cy="305395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行政区 2490万 vs 城区 2956万 vs 都市圈 3048万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71500" y="2212944"/>
            <a:ext cx="1600200" cy="305395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信源差异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171700" y="2212944"/>
            <a:ext cx="2400300" cy="305395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俄乌战争死亡人数？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0" y="2212944"/>
            <a:ext cx="4000500" cy="305395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/ CSIS / BBC / 双方官方数据差异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71500" y="2518339"/>
            <a:ext cx="1600200" cy="305395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日期混淆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171700" y="2518339"/>
            <a:ext cx="2400300" cy="305395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初代 iPhone 何时发布？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572000" y="2518339"/>
            <a:ext cx="4000500" cy="305395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发布日 1/9 vs 发售日 6/29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71500" y="2823735"/>
            <a:ext cx="1600200" cy="305395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民调分歧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171700" y="2823735"/>
            <a:ext cx="2400300" cy="305395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美国总统支持率？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572000" y="2823735"/>
            <a:ext cx="4000500" cy="305395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Quinnipiac 34% vs Fox 39% vs CBS 37%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71500" y="3361302"/>
            <a:ext cx="2590809" cy="11572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6"/>
          <p:cNvSpPr/>
          <p:nvPr/>
        </p:nvSpPr>
        <p:spPr>
          <a:xfrm>
            <a:off x="571500" y="3361302"/>
            <a:ext cx="2590809" cy="285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Text 27"/>
          <p:cNvSpPr/>
          <p:nvPr/>
        </p:nvSpPr>
        <p:spPr>
          <a:xfrm>
            <a:off x="700088" y="3489889"/>
            <a:ext cx="233363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Vanilla RAG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00088" y="3711346"/>
            <a:ext cx="233363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标准检索增强生成，直接基于搜索结果生成回答。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0088" y="4147114"/>
            <a:ext cx="498946" cy="18216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3" name="Text 30"/>
          <p:cNvSpPr/>
          <p:nvPr/>
        </p:nvSpPr>
        <p:spPr>
          <a:xfrm>
            <a:off x="700088" y="4147114"/>
            <a:ext cx="498946" cy="182166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 次调用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3276609" y="3361302"/>
            <a:ext cx="2590809" cy="11572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Shape 32"/>
          <p:cNvSpPr/>
          <p:nvPr/>
        </p:nvSpPr>
        <p:spPr>
          <a:xfrm>
            <a:off x="3276609" y="3361302"/>
            <a:ext cx="2590809" cy="28575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6" name="Text 33"/>
          <p:cNvSpPr/>
          <p:nvPr/>
        </p:nvSpPr>
        <p:spPr>
          <a:xfrm>
            <a:off x="3405197" y="3489889"/>
            <a:ext cx="233363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Self-RAG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405197" y="3711346"/>
            <a:ext cx="233363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引入自我反思机制，通过多轮迭代优化输出质量。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405197" y="4147114"/>
            <a:ext cx="498946" cy="18216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9" name="Text 36"/>
          <p:cNvSpPr/>
          <p:nvPr/>
        </p:nvSpPr>
        <p:spPr>
          <a:xfrm>
            <a:off x="3405197" y="4147114"/>
            <a:ext cx="498946" cy="182166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 轮反思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5981719" y="3361302"/>
            <a:ext cx="2590809" cy="11572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Shape 38"/>
          <p:cNvSpPr/>
          <p:nvPr/>
        </p:nvSpPr>
        <p:spPr>
          <a:xfrm>
            <a:off x="5981719" y="3361302"/>
            <a:ext cx="2590809" cy="285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2" name="Text 39"/>
          <p:cNvSpPr/>
          <p:nvPr/>
        </p:nvSpPr>
        <p:spPr>
          <a:xfrm>
            <a:off x="6110306" y="3489889"/>
            <a:ext cx="233363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SEVE (本项目)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110306" y="3739921"/>
            <a:ext cx="233363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结构化抽取与反向验证，解耦理解与表达。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110306" y="4014955"/>
            <a:ext cx="656472" cy="18216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5" name="Text 42"/>
          <p:cNvSpPr/>
          <p:nvPr/>
        </p:nvSpPr>
        <p:spPr>
          <a:xfrm>
            <a:off x="6110306" y="4014955"/>
            <a:ext cx="656472" cy="182166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4~12 次调用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8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场景一核心结果：准确率与效率平衡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463659"/>
            <a:ext cx="3786188" cy="274141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63659"/>
            <a:ext cx="3786188" cy="285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677972"/>
            <a:ext cx="350043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平均准确率 (Accuracy %)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033374"/>
            <a:ext cx="3500438" cy="21431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86313" y="1463659"/>
            <a:ext cx="3786188" cy="274141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5"/>
          <p:cNvSpPr/>
          <p:nvPr/>
        </p:nvSpPr>
        <p:spPr>
          <a:xfrm>
            <a:off x="4786313" y="1463659"/>
            <a:ext cx="3786188" cy="285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6"/>
          <p:cNvSpPr/>
          <p:nvPr/>
        </p:nvSpPr>
        <p:spPr>
          <a:xfrm>
            <a:off x="4929188" y="1677972"/>
            <a:ext cx="350043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平均 API 调用次数 (Efficiency)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033374"/>
            <a:ext cx="3500438" cy="21431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71500" y="4221370"/>
            <a:ext cx="8001000" cy="84720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8"/>
          <p:cNvSpPr/>
          <p:nvPr/>
        </p:nvSpPr>
        <p:spPr>
          <a:xfrm>
            <a:off x="571500" y="4221370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612825"/>
            <a:ext cx="17145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5825" y="4521407"/>
            <a:ext cx="76866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核心发现：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SEVE 在保持高准确率的同时，通过</a:t>
            </a:r>
            <a:r>
              <a:rPr lang="en-US" sz="9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结构化验证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提供了最高的信息透明度。虽然 API 调用次数较多，但在处理复杂冲突时，这种“重型”验证是确保事实性的必要代价。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逐类对比：SEVE 在不同冲突下的表现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07474"/>
            <a:ext cx="1600200" cy="36254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55731"/>
            <a:ext cx="16002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07474"/>
            <a:ext cx="1600200" cy="36254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冲突类型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171700" y="1307474"/>
            <a:ext cx="2000250" cy="36254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2171700" y="1655731"/>
            <a:ext cx="20002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2171700" y="1307474"/>
            <a:ext cx="2000250" cy="36254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Vanilla RAG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171950" y="1307474"/>
            <a:ext cx="2000250" cy="36254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4171950" y="1655731"/>
            <a:ext cx="20002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9"/>
          <p:cNvSpPr/>
          <p:nvPr/>
        </p:nvSpPr>
        <p:spPr>
          <a:xfrm>
            <a:off x="4171950" y="1307474"/>
            <a:ext cx="2000250" cy="36254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Self-RAG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72200" y="1307474"/>
            <a:ext cx="2400300" cy="36254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6172200" y="1655731"/>
            <a:ext cx="24003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1307474"/>
            <a:ext cx="2400300" cy="36254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SEVE (本项目)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71500" y="1662875"/>
            <a:ext cx="1600200" cy="330398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交易所价差</a:t>
            </a:r>
            <a:endParaRPr lang="en-US" sz="8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764674"/>
            <a:ext cx="114300" cy="1143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57450" y="1761102"/>
            <a:ext cx="571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直接给范围</a:t>
            </a:r>
            <a:endParaRPr lang="en-US" sz="8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1764674"/>
            <a:ext cx="114300" cy="1143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57700" y="1761102"/>
            <a:ext cx="457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信息冗余</a:t>
            </a:r>
            <a:endParaRPr lang="en-US" sz="8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764674"/>
            <a:ext cx="114300" cy="1143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57950" y="1761102"/>
            <a:ext cx="98114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精准差异呈现+纠错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571500" y="1993274"/>
            <a:ext cx="1600200" cy="333970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统计口径</a:t>
            </a:r>
            <a:endParaRPr lang="en-US" sz="8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2098644"/>
            <a:ext cx="114300" cy="1143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457450" y="2095072"/>
            <a:ext cx="457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区分口径</a:t>
            </a:r>
            <a:endParaRPr lang="en-US" sz="8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0" y="2098644"/>
            <a:ext cx="114300" cy="1143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457700" y="2095072"/>
            <a:ext cx="457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表现稳定</a:t>
            </a:r>
            <a:endParaRPr lang="en-US" sz="8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098644"/>
            <a:ext cx="114300" cy="1143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457950" y="2095072"/>
            <a:ext cx="98114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差异标注+引用追溯</a:t>
            </a:r>
            <a:endParaRPr lang="en-US" sz="850" dirty="0"/>
          </a:p>
        </p:txBody>
      </p:sp>
      <p:sp>
        <p:nvSpPr>
          <p:cNvPr id="30" name="Text 21"/>
          <p:cNvSpPr/>
          <p:nvPr/>
        </p:nvSpPr>
        <p:spPr>
          <a:xfrm>
            <a:off x="571500" y="2327244"/>
            <a:ext cx="1600200" cy="333970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信源差异</a:t>
            </a:r>
            <a:endParaRPr lang="en-US" sz="8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2432614"/>
            <a:ext cx="114300" cy="1143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2457450" y="2429042"/>
            <a:ext cx="457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分列来源</a:t>
            </a:r>
            <a:endParaRPr lang="en-US" sz="85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0" y="2432614"/>
            <a:ext cx="114300" cy="1143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457700" y="2429042"/>
            <a:ext cx="457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表现稳定</a:t>
            </a:r>
            <a:endParaRPr lang="en-US" sz="85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2432614"/>
            <a:ext cx="128588" cy="1143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472238" y="2429042"/>
            <a:ext cx="10287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最全面、透明度最高</a:t>
            </a:r>
            <a:endParaRPr lang="en-US" sz="850" dirty="0"/>
          </a:p>
        </p:txBody>
      </p:sp>
      <p:sp>
        <p:nvSpPr>
          <p:cNvPr id="37" name="Text 25"/>
          <p:cNvSpPr/>
          <p:nvPr/>
        </p:nvSpPr>
        <p:spPr>
          <a:xfrm>
            <a:off x="571500" y="2661214"/>
            <a:ext cx="1600200" cy="333970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日期混淆</a:t>
            </a:r>
            <a:endParaRPr lang="en-US" sz="85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0" y="2766585"/>
            <a:ext cx="114300" cy="11430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2457450" y="2763013"/>
            <a:ext cx="457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准确命中</a:t>
            </a:r>
            <a:endParaRPr lang="en-US" sz="85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6250" y="2766585"/>
            <a:ext cx="114300" cy="11430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4457700" y="2763013"/>
            <a:ext cx="95257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55条/题 (严重膨胀)</a:t>
            </a:r>
            <a:endParaRPr lang="en-US" sz="85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2766585"/>
            <a:ext cx="114300" cy="114300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457950" y="2763013"/>
            <a:ext cx="10287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验证环节误删正确项</a:t>
            </a:r>
            <a:endParaRPr lang="en-US" sz="850" dirty="0"/>
          </a:p>
        </p:txBody>
      </p:sp>
      <p:sp>
        <p:nvSpPr>
          <p:cNvPr id="44" name="Text 29"/>
          <p:cNvSpPr/>
          <p:nvPr/>
        </p:nvSpPr>
        <p:spPr>
          <a:xfrm>
            <a:off x="571500" y="2995185"/>
            <a:ext cx="1600200" cy="333970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民调分歧</a:t>
            </a:r>
            <a:endParaRPr lang="en-US" sz="850" dirty="0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100555"/>
            <a:ext cx="114300" cy="114300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2457450" y="3096983"/>
            <a:ext cx="457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表现良好</a:t>
            </a:r>
            <a:endParaRPr lang="en-US" sz="85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3100555"/>
            <a:ext cx="114300" cy="114300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4457700" y="3096983"/>
            <a:ext cx="457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表现良好</a:t>
            </a:r>
            <a:endParaRPr lang="en-US" sz="850" dirty="0"/>
          </a:p>
        </p:txBody>
      </p:sp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100555"/>
            <a:ext cx="114300" cy="114300"/>
          </a:xfrm>
          <a:prstGeom prst="rect">
            <a:avLst/>
          </a:prstGeom>
        </p:spPr>
      </p:pic>
      <p:sp>
        <p:nvSpPr>
          <p:cNvPr id="50" name="Text 32"/>
          <p:cNvSpPr/>
          <p:nvPr/>
        </p:nvSpPr>
        <p:spPr>
          <a:xfrm>
            <a:off x="6457950" y="3096983"/>
            <a:ext cx="11430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验证导致丢失当前数据</a:t>
            </a:r>
            <a:endParaRPr lang="en-US" sz="850" dirty="0"/>
          </a:p>
        </p:txBody>
      </p:sp>
      <p:sp>
        <p:nvSpPr>
          <p:cNvPr id="51" name="Shape 33"/>
          <p:cNvSpPr/>
          <p:nvPr/>
        </p:nvSpPr>
        <p:spPr>
          <a:xfrm>
            <a:off x="571500" y="3618477"/>
            <a:ext cx="3857625" cy="11715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2" name="Shape 34"/>
          <p:cNvSpPr/>
          <p:nvPr/>
        </p:nvSpPr>
        <p:spPr>
          <a:xfrm>
            <a:off x="571500" y="3618477"/>
            <a:ext cx="3857625" cy="28575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53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" y="3922086"/>
            <a:ext cx="142875" cy="142875"/>
          </a:xfrm>
          <a:prstGeom prst="rect">
            <a:avLst/>
          </a:prstGeom>
        </p:spPr>
      </p:pic>
      <p:sp>
        <p:nvSpPr>
          <p:cNvPr id="54" name="Text 35"/>
          <p:cNvSpPr/>
          <p:nvPr/>
        </p:nvSpPr>
        <p:spPr>
          <a:xfrm>
            <a:off x="885825" y="3918514"/>
            <a:ext cx="1381172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反面典型：Self-RAG</a:t>
            </a:r>
            <a:endParaRPr lang="en-US" sz="1000" dirty="0"/>
          </a:p>
        </p:txBody>
      </p:sp>
      <p:sp>
        <p:nvSpPr>
          <p:cNvPr id="55" name="Text 36"/>
          <p:cNvSpPr/>
          <p:nvPr/>
        </p:nvSpPr>
        <p:spPr>
          <a:xfrm>
            <a:off x="742950" y="4204264"/>
            <a:ext cx="351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在“初代 iPhone 发布日”问题中，Self-RAG 输出 </a:t>
            </a:r>
            <a:r>
              <a:rPr lang="en-US" sz="75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55 条声明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（涵盖从 iPhone 1 到 17 的所有信息），而问题仅需一个日期。</a:t>
            </a:r>
            <a:endParaRPr lang="en-US" sz="800" dirty="0"/>
          </a:p>
        </p:txBody>
      </p:sp>
      <p:sp>
        <p:nvSpPr>
          <p:cNvPr id="56" name="Shape 37"/>
          <p:cNvSpPr/>
          <p:nvPr/>
        </p:nvSpPr>
        <p:spPr>
          <a:xfrm>
            <a:off x="4714875" y="3618477"/>
            <a:ext cx="3857625" cy="11715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7" name="Shape 38"/>
          <p:cNvSpPr/>
          <p:nvPr/>
        </p:nvSpPr>
        <p:spPr>
          <a:xfrm>
            <a:off x="4714875" y="3618477"/>
            <a:ext cx="3857625" cy="28575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86325" y="3922086"/>
            <a:ext cx="142875" cy="142875"/>
          </a:xfrm>
          <a:prstGeom prst="rect">
            <a:avLst/>
          </a:prstGeom>
        </p:spPr>
      </p:pic>
      <p:sp>
        <p:nvSpPr>
          <p:cNvPr id="59" name="Text 39"/>
          <p:cNvSpPr/>
          <p:nvPr/>
        </p:nvSpPr>
        <p:spPr>
          <a:xfrm>
            <a:off x="5029200" y="3918514"/>
            <a:ext cx="1460702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风险警示：SEVE 验证</a:t>
            </a:r>
            <a:endParaRPr lang="en-US" sz="1000" dirty="0"/>
          </a:p>
        </p:txBody>
      </p:sp>
      <p:sp>
        <p:nvSpPr>
          <p:cNvPr id="60" name="Text 40"/>
          <p:cNvSpPr/>
          <p:nvPr/>
        </p:nvSpPr>
        <p:spPr>
          <a:xfrm>
            <a:off x="4886325" y="4204264"/>
            <a:ext cx="351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 iPhone 题目中，验证层因字面匹配不严谨，</a:t>
            </a:r>
            <a:r>
              <a:rPr lang="en-US" sz="75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误删了正确发售日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，仅保留发布日，导致最终回答不完整。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场景一：SEVE 反向验证效果矩阵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92222"/>
            <a:ext cx="3028950" cy="8572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92222"/>
            <a:ext cx="28575" cy="8572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742950" y="1535097"/>
            <a:ext cx="285750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85.7%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2950" y="1860138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 (原文支持，保留)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71500" y="2420922"/>
            <a:ext cx="3028950" cy="8572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420922"/>
            <a:ext cx="28575" cy="85725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0" name="Text 7"/>
          <p:cNvSpPr/>
          <p:nvPr/>
        </p:nvSpPr>
        <p:spPr>
          <a:xfrm>
            <a:off x="742950" y="2563797"/>
            <a:ext cx="285750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2950" y="2888838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 (部分支持)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1500" y="3449622"/>
            <a:ext cx="3028950" cy="8572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3449622"/>
            <a:ext cx="28575" cy="85725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4" name="Text 11"/>
          <p:cNvSpPr/>
          <p:nvPr/>
        </p:nvSpPr>
        <p:spPr>
          <a:xfrm>
            <a:off x="742950" y="3592497"/>
            <a:ext cx="285750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14.3%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2950" y="3917538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(原文矛盾，删除)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029075" y="1392222"/>
            <a:ext cx="4543425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验证决策矩阵 (跨 20 题综合效果)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29175" y="1776199"/>
            <a:ext cx="1828800" cy="357188"/>
          </a:xfrm>
          <a:prstGeom prst="rect">
            <a:avLst/>
          </a:prstGeom>
          <a:noFill/>
          <a:ln/>
        </p:spPr>
        <p:txBody>
          <a:bodyPr wrap="square" lIns="0" tIns="8509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验证保留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743700" y="1776199"/>
            <a:ext cx="1828800" cy="357188"/>
          </a:xfrm>
          <a:prstGeom prst="rect">
            <a:avLst/>
          </a:prstGeom>
          <a:noFill/>
          <a:ln/>
        </p:spPr>
        <p:txBody>
          <a:bodyPr wrap="square" lIns="0" tIns="8509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验证删除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029075" y="2219111"/>
            <a:ext cx="714375" cy="950119"/>
          </a:xfrm>
          <a:prstGeom prst="rect">
            <a:avLst/>
          </a:prstGeom>
          <a:noFill/>
          <a:ln/>
        </p:spPr>
        <p:txBody>
          <a:bodyPr wrap="none" lIns="0" tIns="8509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事实正确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4829175" y="2219111"/>
            <a:ext cx="1828800" cy="950119"/>
          </a:xfrm>
          <a:prstGeom prst="rect">
            <a:avLst/>
          </a:prstGeom>
          <a:solidFill>
            <a:srgbClr val="F0FDF4"/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8605" y="2531650"/>
            <a:ext cx="50991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~18 条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282329" y="2792397"/>
            <a:ext cx="9224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YES (正确保留)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6743700" y="2219111"/>
            <a:ext cx="1828800" cy="950119"/>
          </a:xfrm>
          <a:prstGeom prst="rect">
            <a:avLst/>
          </a:prstGeom>
          <a:solidFill>
            <a:srgbClr val="FEF2F2"/>
          </a:solidFill>
          <a:ln w="9144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50820" y="2531650"/>
            <a:ext cx="414561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~4 条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199672" y="2792397"/>
            <a:ext cx="9168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NO (有害删除)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029075" y="3254955"/>
            <a:ext cx="714375" cy="950119"/>
          </a:xfrm>
          <a:prstGeom prst="rect">
            <a:avLst/>
          </a:prstGeom>
          <a:noFill/>
          <a:ln/>
        </p:spPr>
        <p:txBody>
          <a:bodyPr wrap="none" lIns="0" tIns="8509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事实错误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829175" y="3254955"/>
            <a:ext cx="1828800" cy="950119"/>
          </a:xfrm>
          <a:prstGeom prst="rect">
            <a:avLst/>
          </a:prstGeom>
          <a:solidFill>
            <a:srgbClr val="FFFBEB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36295" y="3567494"/>
            <a:ext cx="414561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~4 条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261009" y="3828241"/>
            <a:ext cx="9651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YES (漏网之鱼)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6743700" y="3254955"/>
            <a:ext cx="1828800" cy="950119"/>
          </a:xfrm>
          <a:prstGeom prst="rect">
            <a:avLst/>
          </a:prstGeom>
          <a:solidFill>
            <a:srgbClr val="F0FDF4"/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03130" y="3567494"/>
            <a:ext cx="50991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~44 条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220992" y="3828241"/>
            <a:ext cx="87418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NO (成功纠错)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71500" y="4343400"/>
            <a:ext cx="8001000" cy="3714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571500" y="4343400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2"/>
          <p:cNvSpPr/>
          <p:nvPr/>
        </p:nvSpPr>
        <p:spPr>
          <a:xfrm>
            <a:off x="571500" y="4521994"/>
            <a:ext cx="158044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净纠错 = 44 − 4 = </a:t>
            </a:r>
            <a:r>
              <a:rPr lang="en-US" sz="10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+40 条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044059" y="4521994"/>
            <a:ext cx="252844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有害删除率 </a:t>
            </a:r>
            <a:r>
              <a:rPr lang="en-US" sz="1000" b="1" dirty="0">
                <a:solidFill>
                  <a:srgbClr val="EF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~9%</a:t>
            </a:r>
            <a:r>
              <a:rPr lang="en-US" sz="105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拖累了 8 道题的准确率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消融实验：结构化抽取的独立价值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20784"/>
            <a:ext cx="1600200" cy="36254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69042"/>
            <a:ext cx="16002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20784"/>
            <a:ext cx="1600200" cy="362545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变体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171700" y="1320784"/>
            <a:ext cx="800100" cy="36254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2171700" y="1669042"/>
            <a:ext cx="8001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2171700" y="1320784"/>
            <a:ext cx="800100" cy="362545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抽取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971800" y="1320784"/>
            <a:ext cx="800100" cy="36254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2971800" y="1669042"/>
            <a:ext cx="8001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9"/>
          <p:cNvSpPr/>
          <p:nvPr/>
        </p:nvSpPr>
        <p:spPr>
          <a:xfrm>
            <a:off x="2971800" y="1320784"/>
            <a:ext cx="800100" cy="362545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生成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771900" y="1320784"/>
            <a:ext cx="800100" cy="36254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771900" y="1669042"/>
            <a:ext cx="8001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2"/>
          <p:cNvSpPr/>
          <p:nvPr/>
        </p:nvSpPr>
        <p:spPr>
          <a:xfrm>
            <a:off x="3771900" y="1320784"/>
            <a:ext cx="800100" cy="362545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0" y="1320784"/>
            <a:ext cx="4000500" cy="36254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0" y="1669042"/>
            <a:ext cx="40005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0" y="1320784"/>
            <a:ext cx="4000500" cy="362545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 News 排名题表现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71500" y="1676186"/>
            <a:ext cx="1600200" cy="339328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Vanilla RAG</a:t>
            </a:r>
            <a:endParaRPr lang="en-US" sz="8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6031" y="1783342"/>
            <a:ext cx="71438" cy="114300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6131" y="1783342"/>
            <a:ext cx="71438" cy="114300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231" y="1783342"/>
            <a:ext cx="71438" cy="1143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572000" y="1676186"/>
            <a:ext cx="4000500" cy="339328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"Princeton #1"（未区分排名类型，信息模糊）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571500" y="2015514"/>
            <a:ext cx="1600200" cy="362545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SEVE w/o 验证</a:t>
            </a:r>
            <a:endParaRPr lang="en-US" sz="8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136065"/>
            <a:ext cx="114300" cy="114300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2136065"/>
            <a:ext cx="114300" cy="114300"/>
          </a:xfrm>
          <a:prstGeom prst="rect">
            <a:avLst/>
          </a:prstGeom>
        </p:spPr>
      </p:pic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231" y="2136065"/>
            <a:ext cx="71438" cy="1143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572000" y="2015514"/>
            <a:ext cx="4000500" cy="362545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"全国排名 Princeton #1，全球排名 Harvard #1 [冲突]"</a:t>
            </a:r>
            <a:endParaRPr lang="en-US" sz="750" dirty="0"/>
          </a:p>
        </p:txBody>
      </p:sp>
      <p:sp>
        <p:nvSpPr>
          <p:cNvPr id="29" name="Text 20"/>
          <p:cNvSpPr/>
          <p:nvPr/>
        </p:nvSpPr>
        <p:spPr>
          <a:xfrm>
            <a:off x="571500" y="2378059"/>
            <a:ext cx="1600200" cy="34290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SEVE Full</a:t>
            </a:r>
            <a:endParaRPr lang="en-US" sz="8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2488788"/>
            <a:ext cx="114300" cy="114300"/>
          </a:xfrm>
          <a:prstGeom prst="rect">
            <a:avLst/>
          </a:prstGeom>
        </p:spPr>
      </p:pic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4700" y="2488788"/>
            <a:ext cx="114300" cy="114300"/>
          </a:xfrm>
          <a:prstGeom prst="rect">
            <a:avLst/>
          </a:prstGeom>
        </p:spPr>
      </p:pic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2488788"/>
            <a:ext cx="114300" cy="1143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572000" y="2378059"/>
            <a:ext cx="4000500" cy="34290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"Princeton #1" + PARTIAL 标注（验证层过度敏感）</a:t>
            </a:r>
            <a:endParaRPr lang="en-US" sz="750" dirty="0"/>
          </a:p>
        </p:txBody>
      </p:sp>
      <p:sp>
        <p:nvSpPr>
          <p:cNvPr id="34" name="Shape 22"/>
          <p:cNvSpPr/>
          <p:nvPr/>
        </p:nvSpPr>
        <p:spPr>
          <a:xfrm>
            <a:off x="571500" y="3153156"/>
            <a:ext cx="3886200" cy="13430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Shape 23"/>
          <p:cNvSpPr/>
          <p:nvPr/>
        </p:nvSpPr>
        <p:spPr>
          <a:xfrm>
            <a:off x="571500" y="3153156"/>
            <a:ext cx="3886200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3509451"/>
            <a:ext cx="117872" cy="157163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46547" y="3481769"/>
            <a:ext cx="125730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结构化抽取的价值</a:t>
            </a:r>
            <a:endParaRPr lang="en-US" sz="1100" dirty="0"/>
          </a:p>
        </p:txBody>
      </p:sp>
      <p:sp>
        <p:nvSpPr>
          <p:cNvPr id="38" name="Text 25"/>
          <p:cNvSpPr/>
          <p:nvPr/>
        </p:nvSpPr>
        <p:spPr>
          <a:xfrm>
            <a:off x="742950" y="3780020"/>
            <a:ext cx="35433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中间表示让模型能够识别细微差异。例如，它能清晰区分</a:t>
            </a:r>
            <a:r>
              <a:rPr lang="en-US" sz="8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“全国排名”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r>
              <a:rPr lang="en-US" sz="8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“全球排名”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，从而避免了跨源合成导致的逻辑混乱。</a:t>
            </a:r>
            <a:endParaRPr lang="en-US" sz="850" dirty="0"/>
          </a:p>
        </p:txBody>
      </p:sp>
      <p:sp>
        <p:nvSpPr>
          <p:cNvPr id="39" name="Shape 26"/>
          <p:cNvSpPr/>
          <p:nvPr/>
        </p:nvSpPr>
        <p:spPr>
          <a:xfrm>
            <a:off x="4686300" y="3153156"/>
            <a:ext cx="3886200" cy="13430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Shape 27"/>
          <p:cNvSpPr/>
          <p:nvPr/>
        </p:nvSpPr>
        <p:spPr>
          <a:xfrm>
            <a:off x="4686300" y="3153156"/>
            <a:ext cx="3886200" cy="285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1" name="Text 28"/>
          <p:cNvSpPr/>
          <p:nvPr/>
        </p:nvSpPr>
        <p:spPr>
          <a:xfrm>
            <a:off x="4943475" y="3481769"/>
            <a:ext cx="125730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反向验证的净贡献</a:t>
            </a:r>
            <a:endParaRPr lang="en-US" sz="1100" dirty="0"/>
          </a:p>
        </p:txBody>
      </p:sp>
      <p:sp>
        <p:nvSpPr>
          <p:cNvPr id="42" name="Text 29"/>
          <p:cNvSpPr/>
          <p:nvPr/>
        </p:nvSpPr>
        <p:spPr>
          <a:xfrm>
            <a:off x="4857750" y="3780020"/>
            <a:ext cx="35433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虽然在特定题目上可能过度敏感，但在 20 题全集中实现了 </a:t>
            </a:r>
            <a:r>
              <a:rPr lang="en-US" sz="8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净纠错 +40 条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。其核心作用在于通过原文核查，有效刹停了潜在的幻觉输出。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场景一故障分析与改进方向理论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20784"/>
            <a:ext cx="1200150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735122"/>
            <a:ext cx="12001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20784"/>
            <a:ext cx="1200150" cy="428625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严重度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771650" y="1320784"/>
            <a:ext cx="2000250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1771650" y="1735122"/>
            <a:ext cx="20002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1771650" y="1320784"/>
            <a:ext cx="2000250" cy="42862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故障现象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771900" y="1320784"/>
            <a:ext cx="2400300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3771900" y="1735122"/>
            <a:ext cx="24003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9"/>
          <p:cNvSpPr/>
          <p:nvPr/>
        </p:nvSpPr>
        <p:spPr>
          <a:xfrm>
            <a:off x="3771900" y="1320784"/>
            <a:ext cx="2400300" cy="42862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根因分析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72200" y="1320784"/>
            <a:ext cx="2400300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6172200" y="1735122"/>
            <a:ext cx="24003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1320784"/>
            <a:ext cx="2400300" cy="42862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修复方向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" y="1835134"/>
            <a:ext cx="435769" cy="183952"/>
          </a:xfrm>
          <a:prstGeom prst="rect">
            <a:avLst/>
          </a:prstGeom>
          <a:solidFill>
            <a:srgbClr val="FEE2E2"/>
          </a:solidFill>
          <a:ln w="9144">
            <a:solidFill>
              <a:srgbClr val="FCA5A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1835134"/>
            <a:ext cx="435769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885950" y="1869067"/>
            <a:ext cx="9144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验证误删正确答案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885950" y="2024444"/>
            <a:ext cx="5461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(影响 8 题)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771900" y="1742266"/>
            <a:ext cx="2400300" cy="54292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字面匹配 vs 语义匹配不稳定，导致验证层过度敏感。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742266"/>
            <a:ext cx="2400300" cy="54292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改进 Prompt，引入语义等价性判断逻辑。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85800" y="2381631"/>
            <a:ext cx="591313" cy="183952"/>
          </a:xfrm>
          <a:prstGeom prst="rect">
            <a:avLst/>
          </a:prstGeom>
          <a:solidFill>
            <a:srgbClr val="FEF3C7"/>
          </a:solidFill>
          <a:ln w="9144">
            <a:solidFill>
              <a:srgbClr val="FCD34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2381631"/>
            <a:ext cx="591313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MEDIUM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771650" y="2285191"/>
            <a:ext cx="2000250" cy="54649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Self-RAG 信息膨胀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771900" y="2285191"/>
            <a:ext cx="2400300" cy="54649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“反思”机制被模型误解为“枚举一切相关信息”。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172200" y="2285191"/>
            <a:ext cx="2400300" cy="54649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增加输出约束：仅回答被问及的具体问题。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85800" y="2928128"/>
            <a:ext cx="419026" cy="183952"/>
          </a:xfrm>
          <a:prstGeom prst="rect">
            <a:avLst/>
          </a:prstGeom>
          <a:solidFill>
            <a:srgbClr val="DBEAFE"/>
          </a:solidFill>
          <a:ln w="9144">
            <a:solidFill>
              <a:srgbClr val="93C5F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2928128"/>
            <a:ext cx="419026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771650" y="2831688"/>
            <a:ext cx="2000250" cy="54649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验证无 PARTIAL 判定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771900" y="2831688"/>
            <a:ext cx="2400300" cy="54649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通用模型存在二元化倾向，难以处理模糊支撑。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172200" y="2831688"/>
            <a:ext cx="2400300" cy="54649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换用专门的 NLI (自然语言推理) 细粒度模型。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71500" y="3596069"/>
            <a:ext cx="8001000" cy="4071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571500" y="3596069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67519"/>
            <a:ext cx="228600" cy="2286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942975" y="3785378"/>
            <a:ext cx="640797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核心启示：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验证层的精度是当前系统的最大瓶颈。从“字面匹配”转向“语义匹配”是提升 SEVE 准确率的关键路径。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场景一实验结论总结报告分析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92222"/>
            <a:ext cx="3886200" cy="14859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92222"/>
            <a:ext cx="3886200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576174"/>
            <a:ext cx="214313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8713" y="1735122"/>
            <a:ext cx="31575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Vanilla RAG 效率优先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28713" y="2053019"/>
            <a:ext cx="31575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在简单冲突场景下，1 次调用的 Vanilla RAG 准确率已达 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100%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，是追求效率时的首选方案。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86300" y="1392222"/>
            <a:ext cx="3886200" cy="14859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6"/>
          <p:cNvSpPr/>
          <p:nvPr/>
        </p:nvSpPr>
        <p:spPr>
          <a:xfrm>
            <a:off x="4686300" y="1392222"/>
            <a:ext cx="3886200" cy="28575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576174"/>
            <a:ext cx="321469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50669" y="1735122"/>
            <a:ext cx="305038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SEVE 呈现质量最高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350669" y="2053019"/>
            <a:ext cx="30503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通过显式标注 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[冲突]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并列出矛盾各方，SEVE 在信息透明度与可追溯性上表现最优。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71500" y="3078147"/>
            <a:ext cx="3886200" cy="14859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3078147"/>
            <a:ext cx="3886200" cy="28575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262099"/>
            <a:ext cx="285750" cy="285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00150" y="3421047"/>
            <a:ext cx="30861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结构化抽取具有独立价值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200150" y="3738944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中间表示能显著提升回答的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精细度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（如区分排名类型），即便不进行验证也能缓解幻觉。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686300" y="3078147"/>
            <a:ext cx="3886200" cy="14859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4"/>
          <p:cNvSpPr/>
          <p:nvPr/>
        </p:nvSpPr>
        <p:spPr>
          <a:xfrm>
            <a:off x="4686300" y="3078147"/>
            <a:ext cx="3886200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3262099"/>
            <a:ext cx="285750" cy="2857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14950" y="3421047"/>
            <a:ext cx="30861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验证精度亟待提升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314950" y="3738944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反向验证虽实现净纠错 +40 条，但 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~9% 有害删除率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表明需从字面匹配转向语义匹配。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71775" y="1023621"/>
            <a:ext cx="36004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kern="0" spc="2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PART II: SCENE 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2771775" y="1455958"/>
            <a:ext cx="360045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场景二：更大的挑战
BrowseComp-ZH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2771775" y="2644666"/>
            <a:ext cx="36004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中文谜题多跳推理与联网搜索极限测试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886075" y="3598357"/>
            <a:ext cx="457200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289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886075" y="3918040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谜题总数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771900" y="3598357"/>
            <a:ext cx="114300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零词汇重叠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771900" y="3964474"/>
            <a:ext cx="1143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核心难点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343525" y="3598357"/>
            <a:ext cx="91440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多跳推理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43525" y="3964474"/>
            <a:ext cx="914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验证重点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82919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零词汇重叠：搜索结果不可用的困境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92222"/>
            <a:ext cx="5600700" cy="4196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797630"/>
            <a:ext cx="56007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92222"/>
            <a:ext cx="56007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谜面 (Riddle)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172200" y="1392222"/>
            <a:ext cx="2400300" cy="4196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6172200" y="1797630"/>
            <a:ext cx="24003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6172200" y="1392222"/>
            <a:ext cx="24003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答案 (Answer)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1500" y="1804774"/>
            <a:ext cx="5600700" cy="416123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"名字始于唐代，10公里外始于战国，与世界文化遗产有关…"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172200" y="1804774"/>
            <a:ext cx="2400300" cy="416123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青城山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1500" y="2220897"/>
            <a:ext cx="56007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"某周朝诸侯国非战争行为，主角职权较高，退至窄道…"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172200" y="2220897"/>
            <a:ext cx="24003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回车巷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1500" y="2640592"/>
            <a:ext cx="56007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"90后男歌手，2014翻唱1979歌曲，2025与原唱同台…"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72200" y="2640592"/>
            <a:ext cx="24003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欢颜 (周深)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71500" y="3349609"/>
            <a:ext cx="8001000" cy="51435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" y="3349609"/>
            <a:ext cx="28575" cy="51435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521059"/>
            <a:ext cx="171450" cy="1714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57275" y="3521059"/>
            <a:ext cx="4886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核心挑战：直接搜索谜面原文返回零相关结果。必须在谜面和答案之间架设推理桥梁。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55883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SEVE 升级版：假设驱动的搜索架构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20784"/>
            <a:ext cx="3857625" cy="33432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20784"/>
            <a:ext cx="3857625" cy="285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3"/>
          <p:cNvSpPr/>
          <p:nvPr/>
        </p:nvSpPr>
        <p:spPr>
          <a:xfrm>
            <a:off x="742950" y="1631314"/>
            <a:ext cx="228600" cy="228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4"/>
          <p:cNvSpPr/>
          <p:nvPr/>
        </p:nvSpPr>
        <p:spPr>
          <a:xfrm>
            <a:off x="742950" y="163131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85850" y="1663238"/>
            <a:ext cx="21337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假设生成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5850" y="1863263"/>
            <a:ext cx="213377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基于预训练知识推理，生成 5 个候选答案。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742950" y="2280949"/>
            <a:ext cx="228600" cy="228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8"/>
          <p:cNvSpPr/>
          <p:nvPr/>
        </p:nvSpPr>
        <p:spPr>
          <a:xfrm>
            <a:off x="742950" y="228094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85850" y="2312873"/>
            <a:ext cx="2400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约束提取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5850" y="2512898"/>
            <a:ext cx="24003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锁定谜面中的关键事实约束（如年代、距离、地点）。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742950" y="2930584"/>
            <a:ext cx="228600" cy="228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2"/>
          <p:cNvSpPr/>
          <p:nvPr/>
        </p:nvSpPr>
        <p:spPr>
          <a:xfrm>
            <a:off x="742950" y="293058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85850" y="2962508"/>
            <a:ext cx="20254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假设驱动搜索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85850" y="3162533"/>
            <a:ext cx="202542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使用候选答案 + 约束条件进行 5 路并行搜索。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42950" y="3580219"/>
            <a:ext cx="228600" cy="228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6"/>
          <p:cNvSpPr/>
          <p:nvPr/>
        </p:nvSpPr>
        <p:spPr>
          <a:xfrm>
            <a:off x="742950" y="35802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85850" y="3612142"/>
            <a:ext cx="18892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结构化抽取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5850" y="3812167"/>
            <a:ext cx="188921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从搜索结果中提取与约束相关的 KV 事实。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714875" y="1320784"/>
            <a:ext cx="3857625" cy="33432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0"/>
          <p:cNvSpPr/>
          <p:nvPr/>
        </p:nvSpPr>
        <p:spPr>
          <a:xfrm>
            <a:off x="4714875" y="1320784"/>
            <a:ext cx="3857625" cy="28575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4" name="Shape 21"/>
          <p:cNvSpPr/>
          <p:nvPr/>
        </p:nvSpPr>
        <p:spPr>
          <a:xfrm>
            <a:off x="4886325" y="1631314"/>
            <a:ext cx="228600" cy="228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5" name="Text 22"/>
          <p:cNvSpPr/>
          <p:nvPr/>
        </p:nvSpPr>
        <p:spPr>
          <a:xfrm>
            <a:off x="4886325" y="163131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29225" y="1663238"/>
            <a:ext cx="25003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Gap-fill 补救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229225" y="1863263"/>
            <a:ext cx="250031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若初始假设未命中，利用搜索到的新线索进行二次迭代。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886325" y="2280949"/>
            <a:ext cx="228600" cy="228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9" name="Text 26"/>
          <p:cNvSpPr/>
          <p:nvPr/>
        </p:nvSpPr>
        <p:spPr>
          <a:xfrm>
            <a:off x="4886325" y="228094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29225" y="2312873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反向验证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229225" y="2512898"/>
            <a:ext cx="20002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将提取的事实回传至原文进行多轮交叉核查。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4886325" y="2930584"/>
            <a:ext cx="228600" cy="228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3" name="Text 30"/>
          <p:cNvSpPr/>
          <p:nvPr/>
        </p:nvSpPr>
        <p:spPr>
          <a:xfrm>
            <a:off x="4886325" y="293058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229225" y="2962508"/>
            <a:ext cx="2200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最终生成与纠错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229225" y="3162533"/>
            <a:ext cx="22002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基于验证后的事实链条，输出带引用的最终答案。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886325" y="3734033"/>
            <a:ext cx="35147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核心差异：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场景一为“直接搜索”，场景二引入了 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假设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与 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Gap-fill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，通过“先猜后证”的方式在零重叠场景下架设推理桥梁。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0603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场景二：四种搜索策略性能对比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20784"/>
            <a:ext cx="1200150" cy="35183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58327"/>
            <a:ext cx="12001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20784"/>
            <a:ext cx="1200150" cy="351830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方法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771650" y="1320784"/>
            <a:ext cx="2000250" cy="35183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1771650" y="1658327"/>
            <a:ext cx="20002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1771650" y="1320784"/>
            <a:ext cx="20002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搜索策略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71900" y="1320784"/>
            <a:ext cx="800100" cy="35183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3771900" y="1658327"/>
            <a:ext cx="8001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9"/>
          <p:cNvSpPr/>
          <p:nvPr/>
        </p:nvSpPr>
        <p:spPr>
          <a:xfrm>
            <a:off x="3771900" y="1320784"/>
            <a:ext cx="800100" cy="351830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 调用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572000" y="1320784"/>
            <a:ext cx="800100" cy="35183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0" y="1658327"/>
            <a:ext cx="8001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0" y="1320784"/>
            <a:ext cx="800100" cy="351830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搜索次数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372100" y="1320784"/>
            <a:ext cx="1200150" cy="35183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5372100" y="1658327"/>
            <a:ext cx="12001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5"/>
          <p:cNvSpPr/>
          <p:nvPr/>
        </p:nvSpPr>
        <p:spPr>
          <a:xfrm>
            <a:off x="5372100" y="1320784"/>
            <a:ext cx="1200150" cy="351830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耗时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72250" y="1320784"/>
            <a:ext cx="960109" cy="35183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7"/>
          <p:cNvSpPr/>
          <p:nvPr/>
        </p:nvSpPr>
        <p:spPr>
          <a:xfrm>
            <a:off x="6572250" y="1658327"/>
            <a:ext cx="960109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8"/>
          <p:cNvSpPr/>
          <p:nvPr/>
        </p:nvSpPr>
        <p:spPr>
          <a:xfrm>
            <a:off x="6572250" y="1320784"/>
            <a:ext cx="960109" cy="351830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召回率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532359" y="1320784"/>
            <a:ext cx="1040141" cy="35183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532359" y="1658327"/>
            <a:ext cx="1040141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Text 21"/>
          <p:cNvSpPr/>
          <p:nvPr/>
        </p:nvSpPr>
        <p:spPr>
          <a:xfrm>
            <a:off x="7532359" y="1320784"/>
            <a:ext cx="1040141" cy="351830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准确率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71500" y="1665470"/>
            <a:ext cx="1200150" cy="31968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方法 A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771650" y="1665470"/>
            <a:ext cx="2000250" cy="31968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谜面直接搜索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771900" y="1665470"/>
            <a:ext cx="800100" cy="31968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2000" y="1665470"/>
            <a:ext cx="800100" cy="31968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72100" y="1665470"/>
            <a:ext cx="1200150" cy="31968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15-38s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572250" y="1665470"/>
            <a:ext cx="960109" cy="31968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532359" y="1665470"/>
            <a:ext cx="1040141" cy="31968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71500" y="1985153"/>
            <a:ext cx="120015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方法 B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1771650" y="1985153"/>
            <a:ext cx="2000250" cy="32325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+ Gap-fill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771900" y="1985153"/>
            <a:ext cx="80010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3-7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572000" y="1985153"/>
            <a:ext cx="80010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372100" y="1985153"/>
            <a:ext cx="120015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40-90s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572250" y="1985153"/>
            <a:ext cx="960109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~50%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532359" y="1985153"/>
            <a:ext cx="1040141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71500" y="2308408"/>
            <a:ext cx="120015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方法 C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1771650" y="2308408"/>
            <a:ext cx="2000250" cy="32325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假设驱动 + Gap-fill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771900" y="2308408"/>
            <a:ext cx="80010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4-10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572000" y="2308408"/>
            <a:ext cx="80010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5-9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372100" y="2308408"/>
            <a:ext cx="120015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90-250s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572250" y="2308408"/>
            <a:ext cx="960109" cy="323255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5" name="Shape 42"/>
          <p:cNvSpPr/>
          <p:nvPr/>
        </p:nvSpPr>
        <p:spPr>
          <a:xfrm>
            <a:off x="6572250" y="2624519"/>
            <a:ext cx="960109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3"/>
          <p:cNvSpPr/>
          <p:nvPr/>
        </p:nvSpPr>
        <p:spPr>
          <a:xfrm>
            <a:off x="6572250" y="2308408"/>
            <a:ext cx="960109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~75%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7532359" y="2308408"/>
            <a:ext cx="1040141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~65%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71500" y="2631663"/>
            <a:ext cx="120015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方法 D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1771650" y="2631663"/>
            <a:ext cx="2000250" cy="32325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+ 完整 SEVE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3771900" y="2631663"/>
            <a:ext cx="80010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16-25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572000" y="2631663"/>
            <a:ext cx="80010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4-9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5372100" y="2631663"/>
            <a:ext cx="1200150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200-350s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6572250" y="2631663"/>
            <a:ext cx="960109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~75%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7532359" y="2631663"/>
            <a:ext cx="1040141" cy="323255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5" name="Shape 52"/>
          <p:cNvSpPr/>
          <p:nvPr/>
        </p:nvSpPr>
        <p:spPr>
          <a:xfrm>
            <a:off x="7532359" y="2947774"/>
            <a:ext cx="1040141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3"/>
          <p:cNvSpPr/>
          <p:nvPr/>
        </p:nvSpPr>
        <p:spPr>
          <a:xfrm>
            <a:off x="7532359" y="2631663"/>
            <a:ext cx="1040141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70%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571500" y="3387114"/>
            <a:ext cx="3886200" cy="11715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8" name="Shape 55"/>
          <p:cNvSpPr/>
          <p:nvPr/>
        </p:nvSpPr>
        <p:spPr>
          <a:xfrm>
            <a:off x="571500" y="3387114"/>
            <a:ext cx="3886200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5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697867"/>
            <a:ext cx="142875" cy="142875"/>
          </a:xfrm>
          <a:prstGeom prst="rect">
            <a:avLst/>
          </a:prstGeom>
        </p:spPr>
      </p:pic>
      <p:sp>
        <p:nvSpPr>
          <p:cNvPr id="60" name="Text 56"/>
          <p:cNvSpPr/>
          <p:nvPr/>
        </p:nvSpPr>
        <p:spPr>
          <a:xfrm>
            <a:off x="957263" y="3672864"/>
            <a:ext cx="134135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召回率的质变 (A→C)</a:t>
            </a:r>
            <a:endParaRPr lang="en-US" sz="1000" dirty="0"/>
          </a:p>
        </p:txBody>
      </p:sp>
      <p:sp>
        <p:nvSpPr>
          <p:cNvPr id="61" name="Text 57"/>
          <p:cNvSpPr/>
          <p:nvPr/>
        </p:nvSpPr>
        <p:spPr>
          <a:xfrm>
            <a:off x="742950" y="3951470"/>
            <a:ext cx="3543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从直接搜索转向</a:t>
            </a: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假设驱动搜索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，召回率从 30% 跃升至 75%。这证明了在零重叠场景下，LLM 的初始推理是开启搜索之门的钥匙。</a:t>
            </a:r>
            <a:endParaRPr lang="en-US" sz="800" dirty="0"/>
          </a:p>
        </p:txBody>
      </p:sp>
      <p:sp>
        <p:nvSpPr>
          <p:cNvPr id="62" name="Shape 58"/>
          <p:cNvSpPr/>
          <p:nvPr/>
        </p:nvSpPr>
        <p:spPr>
          <a:xfrm>
            <a:off x="4686300" y="3387114"/>
            <a:ext cx="3886200" cy="11715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3" name="Shape 59"/>
          <p:cNvSpPr/>
          <p:nvPr/>
        </p:nvSpPr>
        <p:spPr>
          <a:xfrm>
            <a:off x="4686300" y="3387114"/>
            <a:ext cx="3886200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6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3697867"/>
            <a:ext cx="142875" cy="142875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5072063" y="3672864"/>
            <a:ext cx="119847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可信度溢价 (C→D)</a:t>
            </a:r>
            <a:endParaRPr lang="en-US" sz="1000" dirty="0"/>
          </a:p>
        </p:txBody>
      </p:sp>
      <p:sp>
        <p:nvSpPr>
          <p:cNvPr id="66" name="Text 61"/>
          <p:cNvSpPr/>
          <p:nvPr/>
        </p:nvSpPr>
        <p:spPr>
          <a:xfrm>
            <a:off x="4857750" y="3951470"/>
            <a:ext cx="3543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 验证环节虽然增加了 5-10 倍的计算成本，但换取了 </a:t>
            </a: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~5pp 的准确率提升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以及极其珍贵的“可追溯引用”，实现了可信度的溢价。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7223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方法 D 整体表现：从假设到验证的闭环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463659"/>
            <a:ext cx="4130371" cy="93047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63659"/>
            <a:ext cx="57150" cy="93047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742950" y="1806559"/>
            <a:ext cx="11430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假设命中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2950" y="2067306"/>
            <a:ext cx="1143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初始推理覆盖正确答案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886842" y="1780663"/>
            <a:ext cx="643579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16/20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71500" y="2508433"/>
            <a:ext cx="4130371" cy="93047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508433"/>
            <a:ext cx="57150" cy="93047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8"/>
          <p:cNvSpPr/>
          <p:nvPr/>
        </p:nvSpPr>
        <p:spPr>
          <a:xfrm>
            <a:off x="742950" y="2851333"/>
            <a:ext cx="130819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最终正确输出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2950" y="3112080"/>
            <a:ext cx="130819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经过搜索、Gap-fill 与验证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886842" y="2825437"/>
            <a:ext cx="643579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14/20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71500" y="3459445"/>
            <a:ext cx="4130371" cy="930473"/>
          </a:xfrm>
          <a:prstGeom prst="rect">
            <a:avLst/>
          </a:prstGeom>
          <a:solidFill>
            <a:srgbClr val="F8FAFC">
              <a:alpha val="8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3459445"/>
            <a:ext cx="57150" cy="930473"/>
          </a:xfrm>
          <a:prstGeom prst="rect">
            <a:avLst/>
          </a:prstGeom>
          <a:solidFill>
            <a:srgbClr val="D5DDE7"/>
          </a:solidFill>
          <a:ln/>
        </p:spPr>
      </p:sp>
      <p:sp>
        <p:nvSpPr>
          <p:cNvPr id="16" name="Text 13"/>
          <p:cNvSpPr/>
          <p:nvPr/>
        </p:nvSpPr>
        <p:spPr>
          <a:xfrm>
            <a:off x="742950" y="3802345"/>
            <a:ext cx="11430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未命中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42950" y="4063092"/>
            <a:ext cx="1143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搜索方向从开始即偏差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029884" y="3776449"/>
            <a:ext cx="500537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4A3B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4/20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130496" y="1369898"/>
            <a:ext cx="3442004" cy="30200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7"/>
          <p:cNvSpPr/>
          <p:nvPr/>
        </p:nvSpPr>
        <p:spPr>
          <a:xfrm>
            <a:off x="5130496" y="1369898"/>
            <a:ext cx="3442004" cy="28575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4809" y="1769055"/>
            <a:ext cx="157163" cy="15716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587696" y="1741373"/>
            <a:ext cx="125730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流水线损失点分析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4809" y="2125349"/>
            <a:ext cx="114300" cy="8496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573409" y="2267778"/>
            <a:ext cx="2784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Claims 提取遗漏 (1 题)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573409" y="2546384"/>
            <a:ext cx="278477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结构化抽取阶段未能捕捉到关键的验证约束，导致信息链条断裂。</a:t>
            </a:r>
            <a:endParaRPr lang="en-US" sz="8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4809" y="3146459"/>
            <a:ext cx="114300" cy="8496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73409" y="3288888"/>
            <a:ext cx="2784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验证误杀 (1 题)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573409" y="3567494"/>
            <a:ext cx="278477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反向验证层因字面匹配不严谨，将正确的事实判定为 NO 并删除。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571500" y="4536281"/>
            <a:ext cx="8001000" cy="3714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571500" y="4536281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5"/>
          <p:cNvSpPr/>
          <p:nvPr/>
        </p:nvSpPr>
        <p:spPr>
          <a:xfrm>
            <a:off x="571500" y="4536281"/>
            <a:ext cx="8001000" cy="371475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核心发现：V0 假设命中率是方法 D 的 Accuracy 上限。搜索不创造新知识，假设中没有的方向，后续难以追回。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68454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案例分析 1：青城山 - 假设桥接成功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20784"/>
            <a:ext cx="3506912" cy="167163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20784"/>
            <a:ext cx="3506912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713691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2975" y="1708333"/>
            <a:ext cx="672322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谜面原文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85813" y="2033374"/>
            <a:ext cx="307828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"名字始于唐代，10公里外始于战国，与一项世界文化遗产有关……请问这是哪里？"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77279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7238" y="3256741"/>
            <a:ext cx="12193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青城山距都江堰 10 公里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89806"/>
            <a:ext cx="114300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57238" y="3469267"/>
            <a:ext cx="15239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青城山-都江堰为世界文化遗产</a:t>
            </a:r>
            <a:endParaRPr lang="en-US" sz="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702332"/>
            <a:ext cx="114300" cy="1143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7238" y="3681794"/>
            <a:ext cx="914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都江堰始建于战国</a:t>
            </a:r>
            <a:endParaRPr lang="en-US" sz="8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914859"/>
            <a:ext cx="114300" cy="1143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57238" y="3894320"/>
            <a:ext cx="914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建福宫始建于唐代</a:t>
            </a:r>
            <a:endParaRPr lang="en-US" sz="800" dirty="0"/>
          </a:p>
        </p:txBody>
      </p:sp>
      <p:sp>
        <p:nvSpPr>
          <p:cNvPr id="17" name="Shape 9"/>
          <p:cNvSpPr/>
          <p:nvPr/>
        </p:nvSpPr>
        <p:spPr>
          <a:xfrm>
            <a:off x="4364162" y="1320784"/>
            <a:ext cx="4208338" cy="7746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0"/>
          <p:cNvSpPr/>
          <p:nvPr/>
        </p:nvSpPr>
        <p:spPr>
          <a:xfrm>
            <a:off x="4364162" y="1320784"/>
            <a:ext cx="28575" cy="774650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7037" y="1469017"/>
            <a:ext cx="171450" cy="1714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792787" y="1542017"/>
            <a:ext cx="3636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LLM 推理</a:t>
            </a:r>
            <a:endParaRPr lang="en-US" sz="900" dirty="0"/>
          </a:p>
        </p:txBody>
      </p:sp>
      <p:sp>
        <p:nvSpPr>
          <p:cNvPr id="21" name="Text 12"/>
          <p:cNvSpPr/>
          <p:nvPr/>
        </p:nvSpPr>
        <p:spPr>
          <a:xfrm>
            <a:off x="4792787" y="1742042"/>
            <a:ext cx="363683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基于“道教名山”、“四川”、“世界遗产”等线索，生成候选：</a:t>
            </a: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青城山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、都江堰、峨眉山。</a:t>
            </a:r>
            <a:endParaRPr lang="en-US" sz="800" dirty="0"/>
          </a:p>
        </p:txBody>
      </p:sp>
      <p:sp>
        <p:nvSpPr>
          <p:cNvPr id="22" name="Shape 13"/>
          <p:cNvSpPr/>
          <p:nvPr/>
        </p:nvSpPr>
        <p:spPr>
          <a:xfrm>
            <a:off x="4364162" y="2209735"/>
            <a:ext cx="4208338" cy="62998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14"/>
          <p:cNvSpPr/>
          <p:nvPr/>
        </p:nvSpPr>
        <p:spPr>
          <a:xfrm>
            <a:off x="4364162" y="2209735"/>
            <a:ext cx="28575" cy="629989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7037" y="2357968"/>
            <a:ext cx="171450" cy="17145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792787" y="2380961"/>
            <a:ext cx="30259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约束提取</a:t>
            </a:r>
            <a:endParaRPr lang="en-US" sz="900" dirty="0"/>
          </a:p>
        </p:txBody>
      </p:sp>
      <p:sp>
        <p:nvSpPr>
          <p:cNvPr id="26" name="Text 16"/>
          <p:cNvSpPr/>
          <p:nvPr/>
        </p:nvSpPr>
        <p:spPr>
          <a:xfrm>
            <a:off x="4792787" y="2580986"/>
            <a:ext cx="302590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锁定关键搜索词：</a:t>
            </a: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["唐代", "战国", "10公里", "世界文化遗产"]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800" dirty="0"/>
          </a:p>
        </p:txBody>
      </p:sp>
      <p:sp>
        <p:nvSpPr>
          <p:cNvPr id="27" name="Shape 17"/>
          <p:cNvSpPr/>
          <p:nvPr/>
        </p:nvSpPr>
        <p:spPr>
          <a:xfrm>
            <a:off x="4364162" y="2954024"/>
            <a:ext cx="4208338" cy="7746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Shape 18"/>
          <p:cNvSpPr/>
          <p:nvPr/>
        </p:nvSpPr>
        <p:spPr>
          <a:xfrm>
            <a:off x="4364162" y="2954024"/>
            <a:ext cx="28575" cy="774650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7037" y="3102257"/>
            <a:ext cx="171450" cy="17145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792787" y="3126367"/>
            <a:ext cx="3636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假设驱动搜索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4792787" y="3326392"/>
            <a:ext cx="363683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执行搜索：“青城山 唐代 命名 世界文化遗产 战国遗址”，成功命中百度百科相关词条。</a:t>
            </a:r>
            <a:endParaRPr lang="en-US" sz="800" dirty="0"/>
          </a:p>
        </p:txBody>
      </p:sp>
      <p:sp>
        <p:nvSpPr>
          <p:cNvPr id="32" name="Shape 21"/>
          <p:cNvSpPr/>
          <p:nvPr/>
        </p:nvSpPr>
        <p:spPr>
          <a:xfrm>
            <a:off x="4364162" y="3842975"/>
            <a:ext cx="4208338" cy="7746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Shape 22"/>
          <p:cNvSpPr/>
          <p:nvPr/>
        </p:nvSpPr>
        <p:spPr>
          <a:xfrm>
            <a:off x="4364162" y="3842975"/>
            <a:ext cx="28575" cy="774650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7037" y="3991208"/>
            <a:ext cx="171450" cy="17145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4792787" y="4035632"/>
            <a:ext cx="3636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原文验证</a:t>
            </a:r>
            <a:endParaRPr lang="en-US" sz="900" dirty="0"/>
          </a:p>
        </p:txBody>
      </p:sp>
      <p:sp>
        <p:nvSpPr>
          <p:cNvPr id="36" name="Text 24"/>
          <p:cNvSpPr/>
          <p:nvPr/>
        </p:nvSpPr>
        <p:spPr>
          <a:xfrm>
            <a:off x="4792787" y="4235657"/>
            <a:ext cx="363683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将搜索到的事实与谜面约束逐一比对，确认所有条件均完美匹配，输出最终答案。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94081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案例分析 2：回车巷 - Gap-fill 补救机制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249347"/>
            <a:ext cx="8001000" cy="4771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49347"/>
            <a:ext cx="28575" cy="4771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3"/>
          <p:cNvSpPr/>
          <p:nvPr/>
        </p:nvSpPr>
        <p:spPr>
          <a:xfrm>
            <a:off x="742950" y="1520809"/>
            <a:ext cx="76581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"某周朝诸侯国非战争行为，主角职权较高，面对羞辱退至窄道，日后和解。碑文由地方书法家撰写…"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71500" y="2012277"/>
            <a:ext cx="2571750" cy="22002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2012277"/>
            <a:ext cx="2571750" cy="28575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788" y="2194443"/>
            <a:ext cx="257175" cy="2571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375" y="2623068"/>
            <a:ext cx="22860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初始假设失败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14375" y="2923105"/>
            <a:ext cx="22860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初始生成的 5 个候选答案均未命中：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808025" y="3205283"/>
            <a:ext cx="371475" cy="1428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9"/>
          <p:cNvSpPr/>
          <p:nvPr/>
        </p:nvSpPr>
        <p:spPr>
          <a:xfrm>
            <a:off x="808025" y="3205283"/>
            <a:ext cx="371475" cy="14287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六尺巷</a:t>
            </a:r>
            <a:endParaRPr lang="en-US" sz="600" dirty="0"/>
          </a:p>
        </p:txBody>
      </p:sp>
      <p:sp>
        <p:nvSpPr>
          <p:cNvPr id="14" name="Shape 10"/>
          <p:cNvSpPr/>
          <p:nvPr/>
        </p:nvSpPr>
        <p:spPr>
          <a:xfrm>
            <a:off x="1239831" y="3205283"/>
            <a:ext cx="371475" cy="1428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1"/>
          <p:cNvSpPr/>
          <p:nvPr/>
        </p:nvSpPr>
        <p:spPr>
          <a:xfrm>
            <a:off x="1239831" y="3205283"/>
            <a:ext cx="371475" cy="14287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将相府</a:t>
            </a:r>
            <a:endParaRPr lang="en-US" sz="600" dirty="0"/>
          </a:p>
        </p:txBody>
      </p:sp>
      <p:sp>
        <p:nvSpPr>
          <p:cNvPr id="16" name="Shape 12"/>
          <p:cNvSpPr/>
          <p:nvPr/>
        </p:nvSpPr>
        <p:spPr>
          <a:xfrm>
            <a:off x="1671638" y="3205283"/>
            <a:ext cx="371475" cy="1428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3"/>
          <p:cNvSpPr/>
          <p:nvPr/>
        </p:nvSpPr>
        <p:spPr>
          <a:xfrm>
            <a:off x="1671638" y="3205283"/>
            <a:ext cx="371475" cy="14287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管鲍祠</a:t>
            </a:r>
            <a:endParaRPr lang="en-US" sz="600" dirty="0"/>
          </a:p>
        </p:txBody>
      </p:sp>
      <p:sp>
        <p:nvSpPr>
          <p:cNvPr id="18" name="Shape 14"/>
          <p:cNvSpPr/>
          <p:nvPr/>
        </p:nvSpPr>
        <p:spPr>
          <a:xfrm>
            <a:off x="2103444" y="3205283"/>
            <a:ext cx="371475" cy="1428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5"/>
          <p:cNvSpPr/>
          <p:nvPr/>
        </p:nvSpPr>
        <p:spPr>
          <a:xfrm>
            <a:off x="2103444" y="3205283"/>
            <a:ext cx="371475" cy="14287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晏子祠</a:t>
            </a:r>
            <a:endParaRPr lang="en-US" sz="600" dirty="0"/>
          </a:p>
        </p:txBody>
      </p:sp>
      <p:sp>
        <p:nvSpPr>
          <p:cNvPr id="20" name="Shape 16"/>
          <p:cNvSpPr/>
          <p:nvPr/>
        </p:nvSpPr>
        <p:spPr>
          <a:xfrm>
            <a:off x="2535250" y="3205283"/>
            <a:ext cx="371475" cy="1428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7"/>
          <p:cNvSpPr/>
          <p:nvPr/>
        </p:nvSpPr>
        <p:spPr>
          <a:xfrm>
            <a:off x="2535250" y="3205283"/>
            <a:ext cx="371475" cy="14287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和合园</a:t>
            </a:r>
            <a:endParaRPr lang="en-US" sz="600" dirty="0"/>
          </a:p>
        </p:txBody>
      </p:sp>
      <p:sp>
        <p:nvSpPr>
          <p:cNvPr id="22" name="Shape 18"/>
          <p:cNvSpPr/>
          <p:nvPr/>
        </p:nvSpPr>
        <p:spPr>
          <a:xfrm>
            <a:off x="3286125" y="2012277"/>
            <a:ext cx="2571750" cy="22002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19"/>
          <p:cNvSpPr/>
          <p:nvPr/>
        </p:nvSpPr>
        <p:spPr>
          <a:xfrm>
            <a:off x="3286125" y="2012277"/>
            <a:ext cx="2571750" cy="28575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413" y="2194443"/>
            <a:ext cx="257175" cy="25717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429000" y="2623068"/>
            <a:ext cx="22860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关联搜索发现线索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429000" y="2923105"/>
            <a:ext cx="22860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在对候选词的并行搜索中，H5 "管鲍祠 齐国" 的结果中意外出现了：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429000" y="3351730"/>
            <a:ext cx="22860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"...蔺相如回车巷..."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6000750" y="2012277"/>
            <a:ext cx="2571750" cy="22002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4"/>
          <p:cNvSpPr/>
          <p:nvPr/>
        </p:nvSpPr>
        <p:spPr>
          <a:xfrm>
            <a:off x="6000750" y="2012277"/>
            <a:ext cx="2571750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038" y="2194443"/>
            <a:ext cx="257175" cy="25717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143625" y="2623068"/>
            <a:ext cx="22860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Gap-fill 成功补救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143625" y="2923105"/>
            <a:ext cx="22860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系统识别到新实体 </a:t>
            </a: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回车巷</a:t>
            </a: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，触发二次验证：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6429375" y="3190996"/>
            <a:ext cx="20002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buSzPct val="100000"/>
              <a:buChar char="•"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赵国（周朝诸侯国） ✓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6429375" y="3326727"/>
            <a:ext cx="20002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buSzPct val="100000"/>
              <a:buChar char="•"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蔺相如避让廉颇 ✓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6429375" y="3462458"/>
            <a:ext cx="20002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buSzPct val="100000"/>
              <a:buChar char="•"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碑文由李守诚撰写 ✓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657904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场景二实验结果深层分析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92222"/>
            <a:ext cx="3786188" cy="288428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92222"/>
            <a:ext cx="3786188" cy="285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606534"/>
            <a:ext cx="350043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召回率 (Recall) 的质变提升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961936"/>
            <a:ext cx="3500438" cy="2286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86313" y="1392222"/>
            <a:ext cx="3786188" cy="1143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5"/>
          <p:cNvSpPr/>
          <p:nvPr/>
        </p:nvSpPr>
        <p:spPr>
          <a:xfrm>
            <a:off x="4786313" y="1392222"/>
            <a:ext cx="28575" cy="1143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6"/>
          <p:cNvSpPr/>
          <p:nvPr/>
        </p:nvSpPr>
        <p:spPr>
          <a:xfrm>
            <a:off x="4957763" y="1677972"/>
            <a:ext cx="344328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架设“推理桥梁”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957763" y="1985153"/>
            <a:ext cx="34432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在零重叠场景下，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假设生成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不仅是猜测，更是为搜索引擎提供了必要的关键词。没有假设，搜索将陷入“无米之炊”的境地。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786313" y="2706672"/>
            <a:ext cx="3786188" cy="1143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9"/>
          <p:cNvSpPr/>
          <p:nvPr/>
        </p:nvSpPr>
        <p:spPr>
          <a:xfrm>
            <a:off x="4786313" y="2706672"/>
            <a:ext cx="28575" cy="1143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4" name="Text 10"/>
          <p:cNvSpPr/>
          <p:nvPr/>
        </p:nvSpPr>
        <p:spPr>
          <a:xfrm>
            <a:off x="4957763" y="2992422"/>
            <a:ext cx="344328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召回率决定准确率上限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957763" y="3299603"/>
            <a:ext cx="34432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实验证明，V0 的命中率（~80%）直接决定了最终 Accuracy 的上限。搜索无法创造新知识，只能验证已有的推理方向。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71500" y="4307681"/>
            <a:ext cx="8001000" cy="4071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571500" y="4307681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86275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2975" y="4514850"/>
            <a:ext cx="63107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核心启示：从 A 到 C 的召回率飞跃（30% → 75%）证明了“假设驱动搜索”是解决多跳推理谜题的决定性因素。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2930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场景二：典型失败模式与根因分析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92222"/>
            <a:ext cx="2000250" cy="4196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797630"/>
            <a:ext cx="20002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92222"/>
            <a:ext cx="200025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失败模式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571750" y="1392222"/>
            <a:ext cx="2800350" cy="4196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2571750" y="1797630"/>
            <a:ext cx="28003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2571750" y="1392222"/>
            <a:ext cx="280035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根因分析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72100" y="1392222"/>
            <a:ext cx="3200400" cy="4196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5372100" y="1797630"/>
            <a:ext cx="32004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9"/>
          <p:cNvSpPr/>
          <p:nvPr/>
        </p:nvSpPr>
        <p:spPr>
          <a:xfrm>
            <a:off x="5372100" y="1392222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典型案例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71500" y="1804774"/>
            <a:ext cx="2000250" cy="571500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假设偏差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71750" y="1804774"/>
            <a:ext cx="2800350" cy="571500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初始推理方向错误，导致后续搜索无法触达正确答案。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372100" y="1804774"/>
            <a:ext cx="3200400" cy="571500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在某历史谜题中，V0 错误锁定了诸侯国，导致 5 路搜索均无果。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1500" y="2376274"/>
            <a:ext cx="2000250" cy="575072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提取遗漏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571750" y="2376274"/>
            <a:ext cx="2800350" cy="575072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结构化抽取阶段未能捕捉到谜面中的隐性约束。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72100" y="2376274"/>
            <a:ext cx="3200400" cy="575072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忽略了“10公里外”这一关键距离约束，导致验证链条不完整。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71500" y="2951345"/>
            <a:ext cx="2000250" cy="575072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验证误杀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571750" y="2951345"/>
            <a:ext cx="2800350" cy="575072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反向验证层因字面匹配不严谨，将正确事实判定为 NO。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372100" y="2951345"/>
            <a:ext cx="3200400" cy="575072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因原文表述与抽取 KV 存在微小语义差异，导致正确答案被剔除。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71500" y="3815739"/>
            <a:ext cx="8001000" cy="5429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0"/>
          <p:cNvSpPr/>
          <p:nvPr/>
        </p:nvSpPr>
        <p:spPr>
          <a:xfrm>
            <a:off x="571500" y="3815739"/>
            <a:ext cx="8001000" cy="28575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987189"/>
            <a:ext cx="171450" cy="17145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7275" y="3987189"/>
            <a:ext cx="68224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核心启示：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场景二的失败多源于</a:t>
            </a:r>
            <a:r>
              <a:rPr lang="en-US" sz="9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推理链条的脆弱性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。提升 V0 假设的覆盖度与验证层的语义理解能力是优化的重中之重。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1652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跨场景对比：Conflict-20 vs BrowseComp-ZH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92222"/>
            <a:ext cx="1600200" cy="4196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797630"/>
            <a:ext cx="16002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92222"/>
            <a:ext cx="16002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对比维度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171700" y="1392222"/>
            <a:ext cx="3200400" cy="4196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2171700" y="1797630"/>
            <a:ext cx="32004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2171700" y="1392222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场景一：Conflict-20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72100" y="1392222"/>
            <a:ext cx="3200400" cy="41969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5372100" y="1797630"/>
            <a:ext cx="32004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9"/>
          <p:cNvSpPr/>
          <p:nvPr/>
        </p:nvSpPr>
        <p:spPr>
          <a:xfrm>
            <a:off x="5372100" y="1392222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场景二：BrowseComp-ZH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71500" y="1804774"/>
            <a:ext cx="1600200" cy="41612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2213753"/>
            <a:ext cx="16002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1804774"/>
            <a:ext cx="1600200" cy="416123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核心挑战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300288" y="1945863"/>
            <a:ext cx="457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搜索结果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757488" y="1945863"/>
            <a:ext cx="6858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可靠但不一致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500688" y="1945863"/>
            <a:ext cx="457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搜索结果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957888" y="1945863"/>
            <a:ext cx="571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几乎不可用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71500" y="2220897"/>
            <a:ext cx="1600200" cy="4196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571500" y="2633449"/>
            <a:ext cx="16002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2220897"/>
            <a:ext cx="16002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搜索策略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171700" y="2220897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直接搜索 (Direct Search)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372100" y="2220897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假设驱动搜索 (Hypothesis-driven)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71500" y="2640592"/>
            <a:ext cx="1600200" cy="4196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3"/>
          <p:cNvSpPr/>
          <p:nvPr/>
        </p:nvSpPr>
        <p:spPr>
          <a:xfrm>
            <a:off x="571500" y="3053144"/>
            <a:ext cx="16002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4"/>
          <p:cNvSpPr/>
          <p:nvPr/>
        </p:nvSpPr>
        <p:spPr>
          <a:xfrm>
            <a:off x="571500" y="2640592"/>
            <a:ext cx="16002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SEVE 流水线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171700" y="2640592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阶段 (抽取-生成-验证)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72100" y="2640592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阶段 (增加 V0 与 Gap-fill)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71500" y="3060288"/>
            <a:ext cx="1600200" cy="4196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8"/>
          <p:cNvSpPr/>
          <p:nvPr/>
        </p:nvSpPr>
        <p:spPr>
          <a:xfrm>
            <a:off x="571500" y="3472839"/>
            <a:ext cx="16002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9"/>
          <p:cNvSpPr/>
          <p:nvPr/>
        </p:nvSpPr>
        <p:spPr>
          <a:xfrm>
            <a:off x="571500" y="3060288"/>
            <a:ext cx="16002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核心价值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171700" y="3060288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透明呈现冲突与纠错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372100" y="3060288"/>
            <a:ext cx="3200400" cy="41969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架设推理桥梁与事实核查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71500" y="3769305"/>
            <a:ext cx="3857625" cy="106441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Shape 33"/>
          <p:cNvSpPr/>
          <p:nvPr/>
        </p:nvSpPr>
        <p:spPr>
          <a:xfrm>
            <a:off x="571500" y="3769305"/>
            <a:ext cx="3857625" cy="285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7" name="Text 34"/>
          <p:cNvSpPr/>
          <p:nvPr/>
        </p:nvSpPr>
        <p:spPr>
          <a:xfrm>
            <a:off x="742950" y="4055055"/>
            <a:ext cx="35147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场景一价值：幻觉“刹车”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42950" y="4355092"/>
            <a:ext cx="351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在信息丰富的环境下，SEVE 的核心作用是识别矛盾并及时纠错，防止模型盲目合成错误信息。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714875" y="3769305"/>
            <a:ext cx="3857625" cy="106441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Shape 37"/>
          <p:cNvSpPr/>
          <p:nvPr/>
        </p:nvSpPr>
        <p:spPr>
          <a:xfrm>
            <a:off x="4714875" y="3769305"/>
            <a:ext cx="3857625" cy="28575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1" name="Text 38"/>
          <p:cNvSpPr/>
          <p:nvPr/>
        </p:nvSpPr>
        <p:spPr>
          <a:xfrm>
            <a:off x="4886325" y="4055055"/>
            <a:ext cx="35147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场景二价值：推理“导航”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886325" y="4355092"/>
            <a:ext cx="351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在信息匮乏的环境下，SEVE 通过假设驱动引导搜索，并在复杂的逻辑链条中确保每一步都有据可查。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23144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SEVE 成本收益分析：可信度的代价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463659"/>
            <a:ext cx="3857625" cy="295751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63659"/>
            <a:ext cx="3857625" cy="28575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690474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2172593"/>
            <a:ext cx="34290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高昂的计算成本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63" y="2656582"/>
            <a:ext cx="87511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44798" y="2613720"/>
            <a:ext cx="297001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16-25 次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LLM 调用/题，是 Vanilla RAG 的 20 倍以上。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563" y="3210892"/>
            <a:ext cx="87511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44798" y="3168030"/>
            <a:ext cx="276516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200-350s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端到端延迟，难以满足实时交互需求。</a:t>
            </a:r>
            <a:endParaRPr lang="en-US" sz="9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563" y="3559485"/>
            <a:ext cx="87511" cy="10001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44798" y="3516623"/>
            <a:ext cx="297001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多路并行搜索与多轮验证带来的 </a:t>
            </a: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Token 消耗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显著增加。</a:t>
            </a:r>
            <a:endParaRPr lang="en-US" sz="950" dirty="0"/>
          </a:p>
        </p:txBody>
      </p:sp>
      <p:sp>
        <p:nvSpPr>
          <p:cNvPr id="14" name="Shape 7"/>
          <p:cNvSpPr/>
          <p:nvPr/>
        </p:nvSpPr>
        <p:spPr>
          <a:xfrm>
            <a:off x="4714875" y="1463659"/>
            <a:ext cx="3857625" cy="295751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8"/>
          <p:cNvSpPr/>
          <p:nvPr/>
        </p:nvSpPr>
        <p:spPr>
          <a:xfrm>
            <a:off x="4714875" y="1463659"/>
            <a:ext cx="3857625" cy="285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9"/>
          <p:cNvSpPr/>
          <p:nvPr/>
        </p:nvSpPr>
        <p:spPr>
          <a:xfrm>
            <a:off x="4929188" y="2172593"/>
            <a:ext cx="34290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不可替代的可信收益</a:t>
            </a:r>
            <a:endParaRPr lang="en-US" sz="14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4938" y="2656582"/>
            <a:ext cx="100013" cy="10001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400675" y="2613720"/>
            <a:ext cx="278260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~5pp 准确率提升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，在极限推理场景下至关重要。</a:t>
            </a:r>
            <a:endParaRPr lang="en-US" sz="9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4938" y="3005175"/>
            <a:ext cx="100013" cy="10001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400675" y="2962312"/>
            <a:ext cx="295751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显式冲突标注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，让模型从“盲目合成”转向“透明呈现”。</a:t>
            </a:r>
            <a:endParaRPr lang="en-US" sz="9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4938" y="3559485"/>
            <a:ext cx="100013" cy="10001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400675" y="3516623"/>
            <a:ext cx="295751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全链路可追溯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，每一条声明都有原文证据闭环支撑。</a:t>
            </a:r>
            <a:endParaRPr lang="en-US" sz="900" dirty="0"/>
          </a:p>
        </p:txBody>
      </p:sp>
      <p:sp>
        <p:nvSpPr>
          <p:cNvPr id="23" name="Shape 13"/>
          <p:cNvSpPr/>
          <p:nvPr/>
        </p:nvSpPr>
        <p:spPr>
          <a:xfrm>
            <a:off x="571500" y="4343400"/>
            <a:ext cx="8001000" cy="3714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14"/>
          <p:cNvSpPr/>
          <p:nvPr/>
        </p:nvSpPr>
        <p:spPr>
          <a:xfrm>
            <a:off x="571500" y="4343400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15"/>
          <p:cNvSpPr/>
          <p:nvPr/>
        </p:nvSpPr>
        <p:spPr>
          <a:xfrm>
            <a:off x="571500" y="4343400"/>
            <a:ext cx="8001000" cy="371475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结论：SEVE 并非通用方案，而是针对高价值、高风险场景的“可信度溢价”解决方案。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48871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场景二实验结论总结与启示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92222"/>
            <a:ext cx="3886200" cy="14859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92222"/>
            <a:ext cx="3886200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576174"/>
            <a:ext cx="214313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8713" y="1735122"/>
            <a:ext cx="31575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假设驱动是核心钥匙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28713" y="2053019"/>
            <a:ext cx="31575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在零重叠场景下，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V0 假设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架设了推理桥梁，将召回率从 30% 提升至 75%，是解决多跳问题的关键。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86300" y="1392222"/>
            <a:ext cx="3886200" cy="14859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6"/>
          <p:cNvSpPr/>
          <p:nvPr/>
        </p:nvSpPr>
        <p:spPr>
          <a:xfrm>
            <a:off x="4686300" y="1392222"/>
            <a:ext cx="3886200" cy="28575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576174"/>
            <a:ext cx="285750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14950" y="1735122"/>
            <a:ext cx="30861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Gap-fill 提供容错保障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314950" y="2053019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即便初始假设偏离，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Gap-fill 机制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能通过关联搜索挽救正确答案，显著增强了流水线的鲁棒性。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71500" y="3078147"/>
            <a:ext cx="3886200" cy="14859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3078147"/>
            <a:ext cx="3886200" cy="28575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6" name="Text 11"/>
          <p:cNvSpPr/>
          <p:nvPr/>
        </p:nvSpPr>
        <p:spPr>
          <a:xfrm>
            <a:off x="914400" y="3421047"/>
            <a:ext cx="33718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SEVE 带来可信度溢价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914400" y="3738944"/>
            <a:ext cx="33718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虽然成本较高，但 SEVE 换取了 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~5pp 的准确率提升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，并提供了可追溯的证据链，实现了高价值场景的可信交付。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86300" y="3078147"/>
            <a:ext cx="3886200" cy="14859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4"/>
          <p:cNvSpPr/>
          <p:nvPr/>
        </p:nvSpPr>
        <p:spPr>
          <a:xfrm>
            <a:off x="4686300" y="3078147"/>
            <a:ext cx="3886200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3262099"/>
            <a:ext cx="285750" cy="285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14950" y="3421047"/>
            <a:ext cx="30861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未来：语义验证的必要性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314950" y="3738944"/>
            <a:ext cx="3086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场景二的失败案例再次印证，验证层需从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字面匹配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转向</a:t>
            </a:r>
            <a:r>
              <a:rPr lang="en-US" sz="900" dirty="0">
                <a:solidFill>
                  <a:srgbClr val="4F46E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语义推理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，以减少误删并提升极端场景下的精度。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960616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验证行为的天壤之别：二元与连续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92222"/>
            <a:ext cx="3786188" cy="324326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92222"/>
            <a:ext cx="3786188" cy="2857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1777984"/>
            <a:ext cx="33575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场景一：Conflict-20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5813" y="2271796"/>
            <a:ext cx="5651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YES (正确)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738246" y="2267331"/>
            <a:ext cx="4051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85.7%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5813" y="2614696"/>
            <a:ext cx="8211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PARTIAL (部分)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936876" y="2610231"/>
            <a:ext cx="20649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5813" y="2957596"/>
            <a:ext cx="5079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 (错误)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738246" y="2953131"/>
            <a:ext cx="4051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14.3%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5813" y="3424619"/>
            <a:ext cx="3357563" cy="98226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4" name="Text 11"/>
          <p:cNvSpPr/>
          <p:nvPr/>
        </p:nvSpPr>
        <p:spPr>
          <a:xfrm>
            <a:off x="928688" y="3674650"/>
            <a:ext cx="307181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特征：二元判断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英文简单事实（如币价、日期），原文要么有要么没有，模型表现出极强的非黑即白倾向。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786313" y="1392222"/>
            <a:ext cx="3786188" cy="324326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4786313" y="1392222"/>
            <a:ext cx="3786188" cy="285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4"/>
          <p:cNvSpPr/>
          <p:nvPr/>
        </p:nvSpPr>
        <p:spPr>
          <a:xfrm>
            <a:off x="5000625" y="1777984"/>
            <a:ext cx="33575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场景二：BrowseComp-ZH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00625" y="2271796"/>
            <a:ext cx="5651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YES (正确)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953059" y="2267331"/>
            <a:ext cx="4051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36.6%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00625" y="2614696"/>
            <a:ext cx="8211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PARTIAL (部分)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953059" y="2610231"/>
            <a:ext cx="4051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60.9%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00625" y="2957596"/>
            <a:ext cx="5079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 (错误)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032533" y="2953131"/>
            <a:ext cx="32565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2.4%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00625" y="3424619"/>
            <a:ext cx="3357563" cy="98226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5" name="Text 22"/>
          <p:cNvSpPr/>
          <p:nvPr/>
        </p:nvSpPr>
        <p:spPr>
          <a:xfrm>
            <a:off x="5143500" y="3674650"/>
            <a:ext cx="307181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特征：细粒度推理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中文复杂推理中，声明与原文往往是“意思对但表述不一”，</a:t>
            </a: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PARTIAL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成为适配复杂场景的关键。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698208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跨场景的四个核心共性发现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20784"/>
            <a:ext cx="3893344" cy="17716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20784"/>
            <a:ext cx="3893344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677079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5838" y="1649397"/>
            <a:ext cx="125730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上游瓶颈决定一切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42950" y="1976224"/>
            <a:ext cx="35504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流水线后期无法补救上游损失。场景一的瓶颈是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搜索质量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，场景二则是 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假设命中率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（80% 决定了 Accuracy 上限）。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679156" y="1320784"/>
            <a:ext cx="3893344" cy="17716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6"/>
          <p:cNvSpPr/>
          <p:nvPr/>
        </p:nvSpPr>
        <p:spPr>
          <a:xfrm>
            <a:off x="4679156" y="1320784"/>
            <a:ext cx="3893344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606" y="1677079"/>
            <a:ext cx="196453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32784" y="1649397"/>
            <a:ext cx="141446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验证收益因场景而异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850606" y="1976224"/>
            <a:ext cx="35504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场景一实现净纠错 +40 条但存在 9% 误删；场景二有效刹停幻觉，且通过 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PARTIAL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判定适配了中文推理的复杂性。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71500" y="3306747"/>
            <a:ext cx="3893344" cy="17716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3306747"/>
            <a:ext cx="3893344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663042"/>
            <a:ext cx="176808" cy="1571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483" y="3635359"/>
            <a:ext cx="125730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中间表示的双刃剑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742950" y="3962186"/>
            <a:ext cx="35504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结构化知识表提升了回答的精细度（如区分排名类型），但 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Claims 提取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环节的遗漏可能导致整个流水线白跑。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679156" y="3306747"/>
            <a:ext cx="3893344" cy="17716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4"/>
          <p:cNvSpPr/>
          <p:nvPr/>
        </p:nvSpPr>
        <p:spPr>
          <a:xfrm>
            <a:off x="4679156" y="3306747"/>
            <a:ext cx="3893344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0606" y="3634467"/>
            <a:ext cx="176808" cy="15716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13139" y="3606784"/>
            <a:ext cx="1623975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成本-收益的分场景决策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4850606" y="3933611"/>
            <a:ext cx="35504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Vanilla RAG 在简单场景下性价比最高。SEVE 是针对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高价值、高风险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场景的“可信度溢价”方案，需权衡 20 倍的成本支出。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154773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SEVE 使用决策树：何时何地使用？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20784"/>
            <a:ext cx="2314575" cy="469702"/>
          </a:xfrm>
          <a:prstGeom prst="rect">
            <a:avLst/>
          </a:prstGeom>
          <a:solidFill>
            <a:srgbClr val="4F46E5"/>
          </a:solidFill>
          <a:ln w="18288">
            <a:solidFill>
              <a:srgbClr val="4F46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1320784"/>
            <a:ext cx="2314575" cy="46970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核心问题：需要用到 SEVE 吗？</a:t>
            </a:r>
            <a:endParaRPr lang="en-US" sz="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71500" y="2082487"/>
            <a:ext cx="128588" cy="1714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42963" y="1933361"/>
            <a:ext cx="2314575" cy="469702"/>
          </a:xfrm>
          <a:prstGeom prst="rect">
            <a:avLst/>
          </a:prstGeom>
          <a:solidFill>
            <a:srgbClr val="F8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42963" y="1933361"/>
            <a:ext cx="2314575" cy="46970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搜索结果可靠且一致？</a:t>
            </a:r>
            <a:endParaRPr lang="en-US" sz="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1838" y="2068199"/>
            <a:ext cx="171450" cy="17145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586163" y="1993190"/>
            <a:ext cx="1581057" cy="321469"/>
          </a:xfrm>
          <a:prstGeom prst="round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7613" y="2103918"/>
            <a:ext cx="100013" cy="1000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14775" y="2086059"/>
            <a:ext cx="10667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VANILLA RAG (足够好)</a:t>
            </a:r>
            <a:endParaRPr lang="en-US" sz="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71500" y="2695063"/>
            <a:ext cx="128588" cy="17145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42963" y="2545938"/>
            <a:ext cx="2314575" cy="469702"/>
          </a:xfrm>
          <a:prstGeom prst="rect">
            <a:avLst/>
          </a:prstGeom>
          <a:solidFill>
            <a:srgbClr val="F8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842963" y="2545938"/>
            <a:ext cx="2314575" cy="46970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搜索结果可靠但不一致？</a:t>
            </a:r>
            <a:endParaRPr lang="en-US" sz="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1838" y="2680776"/>
            <a:ext cx="171450" cy="17145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3586163" y="2605767"/>
            <a:ext cx="1903502" cy="321469"/>
          </a:xfrm>
          <a:prstGeom prst="roundRect">
            <a:avLst/>
          </a:prstGeom>
          <a:solidFill>
            <a:srgbClr val="EEF2FF"/>
          </a:solidFill>
          <a:ln w="9144">
            <a:solidFill>
              <a:srgbClr val="C7D2FE"/>
            </a:solidFill>
            <a:prstDash val="solid"/>
          </a:ln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7613" y="2716495"/>
            <a:ext cx="100013" cy="10001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914775" y="2698635"/>
            <a:ext cx="138915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SEVE 场景一配置 (透明化冲突)</a:t>
            </a:r>
            <a:endParaRPr lang="en-US" sz="7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71500" y="3558564"/>
            <a:ext cx="128588" cy="171450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842963" y="3409438"/>
            <a:ext cx="2314575" cy="469702"/>
          </a:xfrm>
          <a:prstGeom prst="rect">
            <a:avLst/>
          </a:prstGeom>
          <a:solidFill>
            <a:srgbClr val="F8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22" name="Text 12"/>
          <p:cNvSpPr/>
          <p:nvPr/>
        </p:nvSpPr>
        <p:spPr>
          <a:xfrm>
            <a:off x="842963" y="3409438"/>
            <a:ext cx="2314575" cy="46970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搜索结果不可靠 (零重叠)？</a:t>
            </a:r>
            <a:endParaRPr lang="en-US" sz="8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1838" y="3558564"/>
            <a:ext cx="171450" cy="171450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586163" y="3158514"/>
            <a:ext cx="1743075" cy="450056"/>
          </a:xfrm>
          <a:prstGeom prst="rect">
            <a:avLst/>
          </a:prstGeom>
          <a:solidFill>
            <a:srgbClr val="F8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25" name="Text 14"/>
          <p:cNvSpPr/>
          <p:nvPr/>
        </p:nvSpPr>
        <p:spPr>
          <a:xfrm>
            <a:off x="3586163" y="3158514"/>
            <a:ext cx="1743075" cy="4500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预算有限？</a:t>
            </a:r>
            <a:endParaRPr lang="en-US" sz="7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3538" y="3283530"/>
            <a:ext cx="171450" cy="171450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5757863" y="3208520"/>
            <a:ext cx="1383850" cy="321469"/>
          </a:xfrm>
          <a:prstGeom prst="roundRect">
            <a:avLst/>
          </a:prstGeom>
          <a:solidFill>
            <a:srgbClr val="ECFDF5"/>
          </a:solidFill>
          <a:ln w="9144">
            <a:solidFill>
              <a:srgbClr val="A7F3D0"/>
            </a:solidFill>
            <a:prstDash val="solid"/>
          </a:ln>
        </p:spPr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9313" y="3319249"/>
            <a:ext cx="75009" cy="100013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061472" y="3301389"/>
            <a:ext cx="89450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596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方法 C (性价比最优)</a:t>
            </a:r>
            <a:endParaRPr lang="en-US" sz="700" dirty="0"/>
          </a:p>
        </p:txBody>
      </p:sp>
      <p:sp>
        <p:nvSpPr>
          <p:cNvPr id="30" name="Shape 17"/>
          <p:cNvSpPr/>
          <p:nvPr/>
        </p:nvSpPr>
        <p:spPr>
          <a:xfrm>
            <a:off x="3586163" y="3651433"/>
            <a:ext cx="1743075" cy="450056"/>
          </a:xfrm>
          <a:prstGeom prst="rect">
            <a:avLst/>
          </a:prstGeom>
          <a:solidFill>
            <a:srgbClr val="F8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31" name="Text 18"/>
          <p:cNvSpPr/>
          <p:nvPr/>
        </p:nvSpPr>
        <p:spPr>
          <a:xfrm>
            <a:off x="3586163" y="3651433"/>
            <a:ext cx="1743075" cy="4500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需高可信度？</a:t>
            </a:r>
            <a:endParaRPr lang="en-US" sz="7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3538" y="3776449"/>
            <a:ext cx="171450" cy="171450"/>
          </a:xfrm>
          <a:prstGeom prst="rect">
            <a:avLst/>
          </a:prstGeom>
        </p:spPr>
      </p:pic>
      <p:sp>
        <p:nvSpPr>
          <p:cNvPr id="33" name="Shape 19"/>
          <p:cNvSpPr/>
          <p:nvPr/>
        </p:nvSpPr>
        <p:spPr>
          <a:xfrm>
            <a:off x="5757863" y="3701439"/>
            <a:ext cx="1403440" cy="321469"/>
          </a:xfrm>
          <a:prstGeom prst="roundRect">
            <a:avLst/>
          </a:prstGeom>
          <a:solidFill>
            <a:srgbClr val="FEF3C7"/>
          </a:solidFill>
          <a:ln w="9144">
            <a:solidFill>
              <a:srgbClr val="FDE68A"/>
            </a:solidFill>
            <a:prstDash val="solid"/>
          </a:ln>
        </p:spPr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9313" y="3812167"/>
            <a:ext cx="100013" cy="100013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6086475" y="3794308"/>
            <a:ext cx="88909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方法 D (完整 SEVE)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518813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改进路线图：向语义与轻量化演进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20784"/>
            <a:ext cx="800100" cy="38040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86902"/>
            <a:ext cx="8001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20784"/>
            <a:ext cx="800100" cy="380405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优先级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371600" y="1320784"/>
            <a:ext cx="2400300" cy="38040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1371600" y="1686902"/>
            <a:ext cx="24003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1320784"/>
            <a:ext cx="2400300" cy="38040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改进项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71900" y="1320784"/>
            <a:ext cx="2000250" cy="38040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3771900" y="1686902"/>
            <a:ext cx="20002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9"/>
          <p:cNvSpPr/>
          <p:nvPr/>
        </p:nvSpPr>
        <p:spPr>
          <a:xfrm>
            <a:off x="3771900" y="1320784"/>
            <a:ext cx="2000250" cy="38040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适用场景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772150" y="1320784"/>
            <a:ext cx="2800350" cy="38040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5772150" y="1686902"/>
            <a:ext cx="28003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2"/>
          <p:cNvSpPr/>
          <p:nvPr/>
        </p:nvSpPr>
        <p:spPr>
          <a:xfrm>
            <a:off x="5772150" y="1320784"/>
            <a:ext cx="2800350" cy="38040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预期效果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71513" y="1792272"/>
            <a:ext cx="285052" cy="16073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7" name="Text 14"/>
          <p:cNvSpPr/>
          <p:nvPr/>
        </p:nvSpPr>
        <p:spPr>
          <a:xfrm>
            <a:off x="671513" y="1792272"/>
            <a:ext cx="285052" cy="16073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P0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1371600" y="1694045"/>
            <a:ext cx="2400300" cy="348258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验证从字面匹配 → 语义匹配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771900" y="1694045"/>
            <a:ext cx="2000250" cy="348258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双场景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772150" y="1694045"/>
            <a:ext cx="2800350" cy="348258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解决 ~9% 有害删除，提升 PARTIAL 判定精度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71513" y="2144102"/>
            <a:ext cx="285052" cy="16073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2" name="Text 19"/>
          <p:cNvSpPr/>
          <p:nvPr/>
        </p:nvSpPr>
        <p:spPr>
          <a:xfrm>
            <a:off x="671513" y="2144102"/>
            <a:ext cx="285052" cy="16073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P0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1371600" y="2042303"/>
            <a:ext cx="240030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合并抽取与生成环节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771900" y="2042303"/>
            <a:ext cx="20002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场景一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772150" y="2042303"/>
            <a:ext cx="28003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减少 1 次 LLM 调用，消除正则解析脆弱性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71513" y="2495931"/>
            <a:ext cx="285052" cy="160734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7" name="Text 24"/>
          <p:cNvSpPr/>
          <p:nvPr/>
        </p:nvSpPr>
        <p:spPr>
          <a:xfrm>
            <a:off x="671513" y="2495931"/>
            <a:ext cx="285052" cy="16073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P1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1371600" y="2394133"/>
            <a:ext cx="240030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换用轻量化验证模型 (DeepSeek)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771900" y="2394133"/>
            <a:ext cx="20002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双场景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772150" y="2394133"/>
            <a:ext cx="28003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节省 ~40% 验证成本，显著降低端到端延迟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671513" y="2847761"/>
            <a:ext cx="285052" cy="160734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2" name="Text 29"/>
          <p:cNvSpPr/>
          <p:nvPr/>
        </p:nvSpPr>
        <p:spPr>
          <a:xfrm>
            <a:off x="671513" y="2847761"/>
            <a:ext cx="285052" cy="16073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P1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1371600" y="2745963"/>
            <a:ext cx="240030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Claims 提取失败自动降级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771900" y="2745963"/>
            <a:ext cx="20002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场景二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772150" y="2745963"/>
            <a:ext cx="28003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防止提取遗漏导致管道白跑，增强系统鲁棒性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71513" y="3199591"/>
            <a:ext cx="285052" cy="160734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37" name="Text 34"/>
          <p:cNvSpPr/>
          <p:nvPr/>
        </p:nvSpPr>
        <p:spPr>
          <a:xfrm>
            <a:off x="671513" y="3199591"/>
            <a:ext cx="285052" cy="16073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P2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1371600" y="3097792"/>
            <a:ext cx="240030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知识表增加时效性权重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771900" y="3097792"/>
            <a:ext cx="20002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场景一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772150" y="3097792"/>
            <a:ext cx="28003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解决多源信息中的过时数据干扰问题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571500" y="4195167"/>
            <a:ext cx="8001000" cy="51970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71500" y="4195167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Shape 40"/>
          <p:cNvSpPr/>
          <p:nvPr/>
        </p:nvSpPr>
        <p:spPr>
          <a:xfrm>
            <a:off x="571500" y="4373761"/>
            <a:ext cx="1928254" cy="341114"/>
          </a:xfrm>
          <a:prstGeom prst="rect">
            <a:avLst/>
          </a:prstGeom>
          <a:solidFill>
            <a:srgbClr val="EEF2FF"/>
          </a:solidFill>
          <a:ln w="9144">
            <a:solidFill>
              <a:srgbClr val="C7D2FE"/>
            </a:solidFill>
            <a:prstDash val="solid"/>
          </a:ln>
        </p:spPr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472880"/>
            <a:ext cx="160734" cy="142875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989409" y="4466630"/>
            <a:ext cx="132460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延迟优化：286s → ~150s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6453597" y="4373761"/>
            <a:ext cx="2118903" cy="341114"/>
          </a:xfrm>
          <a:prstGeom prst="rect">
            <a:avLst/>
          </a:prstGeom>
          <a:solidFill>
            <a:srgbClr val="EEF2FF"/>
          </a:solidFill>
          <a:ln w="9144">
            <a:solidFill>
              <a:srgbClr val="C7D2FE"/>
            </a:solidFill>
            <a:prstDash val="solid"/>
          </a:ln>
        </p:spPr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334" y="4480024"/>
            <a:ext cx="160734" cy="142875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885794" y="4473773"/>
            <a:ext cx="151525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成本优化：$0.027 → ~$0.015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344091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总结：解耦理解与表达的价值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07474"/>
            <a:ext cx="8001000" cy="78581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07474"/>
            <a:ext cx="28575" cy="78581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407486"/>
            <a:ext cx="200025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SEVE 能减少幻觉吗？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843213" y="1407486"/>
            <a:ext cx="5586413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能。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场景一实现净纠错 +40 条；场景二通过验证有效刹停幻觉（15Y/1N），显著提升了输出的可信度。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71500" y="2221874"/>
            <a:ext cx="8001000" cy="78581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221874"/>
            <a:ext cx="28575" cy="785813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2321886"/>
            <a:ext cx="200025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SEVE 值这个成本吗？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843213" y="2321886"/>
            <a:ext cx="5586413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看场景。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简单冲突场景不建议使用；但在零重叠、高风险的推理场景下，SEVE 是确保“有据可查”的必要选择。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1500" y="3136274"/>
            <a:ext cx="8001000" cy="78581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3136274"/>
            <a:ext cx="28575" cy="78581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3236286"/>
            <a:ext cx="200025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目前最大的问题是什么？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843213" y="3236286"/>
            <a:ext cx="5307946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验证精度。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约 9% 的有害删除率以及过度二元化的判断逻辑，是当前拖累准确率的主要瓶颈。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1500" y="4050674"/>
            <a:ext cx="8001000" cy="78581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" y="4050674"/>
            <a:ext cx="28575" cy="785813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8" name="Text 15"/>
          <p:cNvSpPr/>
          <p:nvPr/>
        </p:nvSpPr>
        <p:spPr>
          <a:xfrm>
            <a:off x="714375" y="4150686"/>
            <a:ext cx="200025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下一步的工作重点？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843213" y="4150686"/>
            <a:ext cx="5508054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修验证。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推动验证层从字面匹配转向语义推理，并引入轻量化模型以降低 40% 以上的计算成本。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71500" y="4352330"/>
            <a:ext cx="8001000" cy="3625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71500" y="4352330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4352330"/>
            <a:ext cx="8001000" cy="36254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SEVE：在搜索与生成之间插入结构化知识表，让联网大模型从“盲目合成”走向“透明核查”。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858851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附录与参考文献</a:t>
            </a:r>
            <a:endParaRPr lang="en-US" sz="2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05629"/>
            <a:ext cx="19645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9391" y="1477947"/>
            <a:ext cx="6286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实验配置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71500" y="1833349"/>
            <a:ext cx="1376790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基座模型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1948290" y="1833349"/>
            <a:ext cx="2065186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V4 Pro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571500" y="2144102"/>
            <a:ext cx="137679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搜索工具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1948290" y="2144102"/>
            <a:ext cx="206518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SerpAPI / Google Search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71500" y="2458427"/>
            <a:ext cx="1376790" cy="29468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Temperature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1948290" y="2458427"/>
            <a:ext cx="2065186" cy="29468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571500" y="2753106"/>
            <a:ext cx="137679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Token 上限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1948290" y="2753106"/>
            <a:ext cx="206518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4096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571500" y="3067431"/>
            <a:ext cx="137679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Top-K 结果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1948290" y="3067431"/>
            <a:ext cx="206518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571500" y="3599641"/>
            <a:ext cx="3441976" cy="5786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3"/>
          <p:cNvSpPr/>
          <p:nvPr/>
        </p:nvSpPr>
        <p:spPr>
          <a:xfrm>
            <a:off x="571500" y="3599641"/>
            <a:ext cx="28575" cy="57864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8" name="Text 14"/>
          <p:cNvSpPr/>
          <p:nvPr/>
        </p:nvSpPr>
        <p:spPr>
          <a:xfrm>
            <a:off x="571500" y="3599641"/>
            <a:ext cx="3441976" cy="57864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E293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代码仓库：</a:t>
            </a:r>
            <a:r>
              <a:rPr lang="en-US" sz="600" dirty="0">
                <a:solidFill>
                  <a:srgbClr val="1E293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d:\hook\20d3777207db70384ab5d01c158146cd_2807886279357998\2.0\save\</a:t>
            </a:r>
            <a:endParaRPr lang="en-US" sz="6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2101" y="1505629"/>
            <a:ext cx="137517" cy="15716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51056" y="1477947"/>
            <a:ext cx="6286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参考文献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727851" y="1833349"/>
            <a:ext cx="3844649" cy="2971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Lewis, P., et al. (2020). Retrieval-Augmented Generation for Knowledge-Intensive NLP Tasks. NeurIPS.</a:t>
            </a:r>
            <a:endParaRPr lang="en-US" sz="650" dirty="0"/>
          </a:p>
        </p:txBody>
      </p:sp>
      <p:sp>
        <p:nvSpPr>
          <p:cNvPr id="22" name="Text 17"/>
          <p:cNvSpPr/>
          <p:nvPr/>
        </p:nvSpPr>
        <p:spPr>
          <a:xfrm>
            <a:off x="4727851" y="2216209"/>
            <a:ext cx="3844649" cy="2971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Asai, A., et al. (2023). Self-RAG: Learning to Retrieve, Generate, and Critique through Self-Reflection. ICLR 2024.</a:t>
            </a:r>
            <a:endParaRPr lang="en-US" sz="650" dirty="0"/>
          </a:p>
        </p:txBody>
      </p:sp>
      <p:sp>
        <p:nvSpPr>
          <p:cNvPr id="23" name="Text 18"/>
          <p:cNvSpPr/>
          <p:nvPr/>
        </p:nvSpPr>
        <p:spPr>
          <a:xfrm>
            <a:off x="4727851" y="2599069"/>
            <a:ext cx="3844649" cy="14856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Dhuliawala, S., et al. (2024). Chain-of-Verification Reduces Hallucination in LLMs. ACL.</a:t>
            </a:r>
            <a:endParaRPr lang="en-US" sz="650" dirty="0"/>
          </a:p>
        </p:txBody>
      </p:sp>
      <p:sp>
        <p:nvSpPr>
          <p:cNvPr id="24" name="Text 19"/>
          <p:cNvSpPr/>
          <p:nvPr/>
        </p:nvSpPr>
        <p:spPr>
          <a:xfrm>
            <a:off x="4727851" y="2833362"/>
            <a:ext cx="3844649" cy="2971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Min, S., et al. (2023). FActScore: Fine-grained Atomic Evaluation of Factual Precision. EMNLP.</a:t>
            </a:r>
            <a:endParaRPr lang="en-US" sz="650" dirty="0"/>
          </a:p>
        </p:txBody>
      </p:sp>
      <p:sp>
        <p:nvSpPr>
          <p:cNvPr id="25" name="Text 20"/>
          <p:cNvSpPr/>
          <p:nvPr/>
        </p:nvSpPr>
        <p:spPr>
          <a:xfrm>
            <a:off x="4727851" y="3216222"/>
            <a:ext cx="3844649" cy="14856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Gao, T., et al. (2023). ALCE: Enabling LLMs to Generate Text with Citations. EMNLP.</a:t>
            </a:r>
            <a:endParaRPr lang="en-US" sz="650" dirty="0"/>
          </a:p>
        </p:txBody>
      </p:sp>
      <p:sp>
        <p:nvSpPr>
          <p:cNvPr id="26" name="Text 21"/>
          <p:cNvSpPr/>
          <p:nvPr/>
        </p:nvSpPr>
        <p:spPr>
          <a:xfrm>
            <a:off x="4727851" y="3450515"/>
            <a:ext cx="3844649" cy="2971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Vu, T., et al. (2023). FreshLLMs: Refreshing Large Language Models with Search Engine Augmentation. arXiv.</a:t>
            </a:r>
            <a:endParaRPr lang="en-US" sz="650" dirty="0"/>
          </a:p>
        </p:txBody>
      </p:sp>
    </p:spTree>
    <p:extLst>
      <p:ext uri="{BB962C8B-B14F-4D97-AF65-F5344CB8AC3E}">
        <p14:creationId xmlns:p14="http://schemas.microsoft.com/office/powerpoint/2010/main" val="2777072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1844</Words>
  <Application>Microsoft Office PowerPoint</Application>
  <PresentationFormat>全屏显示(16:9)</PresentationFormat>
  <Paragraphs>489</Paragraphs>
  <Slides>30</Slides>
  <Notes>30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1" baseType="lpstr"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asus</cp:lastModifiedBy>
  <cp:revision>3</cp:revision>
  <dcterms:created xsi:type="dcterms:W3CDTF">2026-06-09T12:50:57Z</dcterms:created>
  <dcterms:modified xsi:type="dcterms:W3CDTF">2026-06-09T13:06:56Z</dcterms:modified>
</cp:coreProperties>
</file>